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6" r:id="rId7"/>
    <p:sldId id="268" r:id="rId8"/>
    <p:sldId id="269" r:id="rId9"/>
    <p:sldId id="270" r:id="rId10"/>
    <p:sldId id="267" r:id="rId11"/>
    <p:sldId id="271" r:id="rId12"/>
    <p:sldId id="272" r:id="rId13"/>
    <p:sldId id="273" r:id="rId14"/>
    <p:sldId id="265" r:id="rId15"/>
    <p:sldId id="262" r:id="rId16"/>
    <p:sldId id="27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003D76-531E-63F3-FFEE-967D32A83D8E}" v="190" dt="2026-04-21T05:02:59.119"/>
    <p1510:client id="{18E65C99-C60A-34CD-AD7F-F32291329D58}" v="200" dt="2026-04-22T00:57:24.425"/>
    <p1510:client id="{37598F49-44A2-A281-564D-7BC069FC641A}" v="99" dt="2026-04-21T20:02:48.749"/>
    <p1510:client id="{4FE74A18-3521-7BDE-3710-F984066371F6}" v="2604" dt="2026-04-21T22:25:59.171"/>
    <p1510:client id="{C71AED89-7558-C022-16FD-7D78C6893347}" v="2" dt="2026-04-21T20:49:17.138"/>
    <p1510:client id="{EE104AFD-F5C8-87A4-0A4B-F2A750423046}" v="243" dt="2026-04-21T16:05:37.374"/>
    <p1510:client id="{FC5C8D95-D0AF-33FA-1074-D912ADBC9C1F}" v="49" dt="2026-04-21T05:09:26.9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053CAA9-7394-42E9-B0B9-D38C4BC21CBB}" type="datetimeFigureOut">
              <a:t>4/24/2026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95BF9B3-3AF0-4261-AD9E-637718D863FE}" type="slidenum">
              <a:t>‹#›</a:t>
            </a:fld>
            <a:endParaRPr lang="en-US"/>
          </a:p>
        </p:txBody>
      </p:sp>
    </p:spTree>
    <p:extLst>
      <p:ext uri="{BB962C8B-B14F-4D97-AF65-F5344CB8AC3E}">
        <p14:creationId xmlns:p14="http://schemas.microsoft.com/office/powerpoint/2010/main" val="1921437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8882C-6A22-9F64-4C75-EC4353D69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FCAE8-6D99-5C65-CFC4-75B17DFD4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B97B9-062F-C38A-D1B5-C8ED80040935}"/>
              </a:ext>
            </a:extLst>
          </p:cNvPr>
          <p:cNvSpPr>
            <a:spLocks noGrp="1"/>
          </p:cNvSpPr>
          <p:nvPr>
            <p:ph type="body" idx="1"/>
          </p:nvPr>
        </p:nvSpPr>
        <p:spPr/>
        <p:txBody>
          <a:bodyPr/>
          <a:lstStyle/>
          <a:p>
            <a:r>
              <a:rPr lang="en-US"/>
              <a:t>I'll now walk you through the four methods we explored. In our first method, we extract the last token's hidden state from 5 transformer layers, concatenate them, and feed this into the MLP classifier. Our intuition behind this approach was that the model learns syntactic patterns in the early layers, semantic compositions in the middle layers and task-specific/factual representations in the late layers. We wanted to probe if averaging token embeddings might lead to loss in training signals for the MLP and hence we perform concatenation. </a:t>
            </a:r>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88A8E546-797E-BF9A-F832-3B51D6FC6042}"/>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940340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E1F93-FBC8-9F7F-10F0-6BA73CDE62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9D44D-C0F2-CC89-1E32-76C529731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938AD-CC4F-C307-A9BB-EDD1D3F5A010}"/>
              </a:ext>
            </a:extLst>
          </p:cNvPr>
          <p:cNvSpPr>
            <a:spLocks noGrp="1"/>
          </p:cNvSpPr>
          <p:nvPr>
            <p:ph type="body" idx="1"/>
          </p:nvPr>
        </p:nvSpPr>
        <p:spPr/>
        <p:txBody>
          <a:bodyPr/>
          <a:lstStyle/>
          <a:p>
            <a:r>
              <a:rPr lang="en-US"/>
              <a:t>Method 2 is an extension where instead of just taking the last token, we take the mean pooling across all tokens in the sentence for each layer. The intuition is that a single token may not capture the full meaning of the sentence, so averaging across all tokens gives a richer representation before feeding it to the classifier.</a:t>
            </a:r>
          </a:p>
          <a:p>
            <a:endParaRPr lang="en-US">
              <a:ea typeface="Calibri"/>
              <a:cs typeface="Calibri"/>
            </a:endParaRPr>
          </a:p>
        </p:txBody>
      </p:sp>
      <p:sp>
        <p:nvSpPr>
          <p:cNvPr id="4" name="Slide Number Placeholder 3">
            <a:extLst>
              <a:ext uri="{FF2B5EF4-FFF2-40B4-BE49-F238E27FC236}">
                <a16:creationId xmlns:a16="http://schemas.microsoft.com/office/drawing/2014/main" id="{D75C799E-6012-C477-EF5C-E32CC725EDF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45948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E9638-0FEE-82BF-5ACE-2DB0097AD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E6361-03AB-4D8F-54CE-8A1F7E96C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2096D-D745-4409-07A7-1166D9B007E7}"/>
              </a:ext>
            </a:extLst>
          </p:cNvPr>
          <p:cNvSpPr>
            <a:spLocks noGrp="1"/>
          </p:cNvSpPr>
          <p:nvPr>
            <p:ph type="body" idx="1"/>
          </p:nvPr>
        </p:nvSpPr>
        <p:spPr/>
        <p:txBody>
          <a:bodyPr/>
          <a:lstStyle/>
          <a:p>
            <a:r>
              <a:rPr lang="en-US"/>
              <a:t>Method 3 looks at delta features — that is, the difference between hidden states of consecutive layers. The idea here is that changes across layers might signal where the model is uncertain or inconsistent, which could be a marker for hallucination. We compute these differences and use them as features for the classifier.</a:t>
            </a:r>
          </a:p>
          <a:p>
            <a:endParaRPr lang="en-US">
              <a:ea typeface="Calibri"/>
              <a:cs typeface="Calibri"/>
            </a:endParaRPr>
          </a:p>
        </p:txBody>
      </p:sp>
      <p:sp>
        <p:nvSpPr>
          <p:cNvPr id="4" name="Slide Number Placeholder 3">
            <a:extLst>
              <a:ext uri="{FF2B5EF4-FFF2-40B4-BE49-F238E27FC236}">
                <a16:creationId xmlns:a16="http://schemas.microsoft.com/office/drawing/2014/main" id="{3A62D1C6-447D-56A8-68C0-FAA9776300A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249720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40B3D-614B-D7BF-9F44-FEA11DDF0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E22B8-834B-30DD-1A9C-560C79EDE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BBF01-DE3C-8B88-F4AF-8BC07BE3832B}"/>
              </a:ext>
            </a:extLst>
          </p:cNvPr>
          <p:cNvSpPr>
            <a:spLocks noGrp="1"/>
          </p:cNvSpPr>
          <p:nvPr>
            <p:ph type="body" idx="1"/>
          </p:nvPr>
        </p:nvSpPr>
        <p:spPr/>
        <p:txBody>
          <a:bodyPr/>
          <a:lstStyle/>
          <a:p>
            <a:r>
              <a:rPr lang="en-US"/>
              <a:t>Method 4 uses multi-layer mean aggregation — we take the mean of all layer embeddings rather than concatenating them. This keeps the feature dimension fixed regardless of model depth, making it more generalizable.</a:t>
            </a:r>
            <a:endParaRPr lang="en-US">
              <a:ea typeface="Calibri"/>
              <a:cs typeface="Calibri"/>
            </a:endParaRPr>
          </a:p>
        </p:txBody>
      </p:sp>
      <p:sp>
        <p:nvSpPr>
          <p:cNvPr id="4" name="Slide Number Placeholder 3">
            <a:extLst>
              <a:ext uri="{FF2B5EF4-FFF2-40B4-BE49-F238E27FC236}">
                <a16:creationId xmlns:a16="http://schemas.microsoft.com/office/drawing/2014/main" id="{0841ED14-5A8B-EC5E-41D5-D358350C14C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87060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BEB9F-A6DF-8381-758D-2A2B00D24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297B6-4340-DAF8-6681-7EF0A0872F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01326-2E45-80EF-9829-783158ADA0BD}"/>
              </a:ext>
            </a:extLst>
          </p:cNvPr>
          <p:cNvSpPr>
            <a:spLocks noGrp="1"/>
          </p:cNvSpPr>
          <p:nvPr>
            <p:ph type="body" idx="1"/>
          </p:nvPr>
        </p:nvSpPr>
        <p:spPr/>
        <p:txBody>
          <a:bodyPr/>
          <a:lstStyle/>
          <a:p>
            <a:r>
              <a:rPr lang="en-US"/>
              <a:t>To train our classifiers, we built a self-supervised data generation pipeline adapted from MIND. It dynamically creates training data specific to each model — no human labels needed. We use </a:t>
            </a:r>
            <a:r>
              <a:rPr lang="en-US" err="1"/>
              <a:t>spaCy</a:t>
            </a:r>
            <a:r>
              <a:rPr lang="en-US"/>
              <a:t> for entity extraction from generated text, and then a match-checker verifies whether the extracted entities align with the ground truth. This automatically labels sentences as hallucinated or not. [Handoff to Vicky for HELM Benchmark and Results]</a:t>
            </a:r>
          </a:p>
          <a:p>
            <a:endParaRPr lang="en-US">
              <a:ea typeface="Calibri"/>
              <a:cs typeface="Calibri"/>
            </a:endParaRPr>
          </a:p>
        </p:txBody>
      </p:sp>
      <p:sp>
        <p:nvSpPr>
          <p:cNvPr id="4" name="Slide Number Placeholder 3">
            <a:extLst>
              <a:ext uri="{FF2B5EF4-FFF2-40B4-BE49-F238E27FC236}">
                <a16:creationId xmlns:a16="http://schemas.microsoft.com/office/drawing/2014/main" id="{82C08609-1059-1E68-BBF3-79E42F04BB5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20879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8E075-86C4-6A84-DF21-3597797DD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4FD0D-FFA4-E38C-7AE2-4FC49E2397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24950-B574-DE4E-4958-54CEB78305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92D84F-53C5-0DCB-9CED-99E43BA5B9E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49731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DD28C-6209-253E-25D9-5D3CCE930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AF8A2-F427-719F-F4E7-50BCD071F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D76EB-542E-9E47-8F35-6246940711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11772D-6844-7462-6A5D-C1555796CB4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60655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C2D4-16CD-52CD-22D6-4EB4F2608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0006E-41F9-597A-17E7-8C923CAAD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712A4-0F27-28E4-5791-AC96E95600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40290F-2916-3F98-126D-67DB31ED397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33888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7746E-5877-A3B5-4A21-A9CF00B9B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241EA-A9F0-AB02-A5FC-79C6CFD36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5539CB-9B03-54A1-B8E4-766FDF3F4D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775E72-7B8E-7D5A-B5C7-91DB3B247A7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113893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arxiv.org/pdf/1609.07843"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111111"/>
          </a:solidFill>
          <a:ln w="12700">
            <a:solidFill>
              <a:srgbClr val="111111"/>
            </a:solidFill>
            <a:prstDash val="solid"/>
          </a:ln>
        </p:spPr>
      </p:sp>
      <p:sp>
        <p:nvSpPr>
          <p:cNvPr id="3" name="Shape 1"/>
          <p:cNvSpPr/>
          <p:nvPr/>
        </p:nvSpPr>
        <p:spPr>
          <a:xfrm>
            <a:off x="0" y="5052060"/>
            <a:ext cx="9144000" cy="91440"/>
          </a:xfrm>
          <a:prstGeom prst="rect">
            <a:avLst/>
          </a:prstGeom>
          <a:solidFill>
            <a:srgbClr val="111111"/>
          </a:solidFill>
          <a:ln w="12700">
            <a:solidFill>
              <a:srgbClr val="111111"/>
            </a:solidFill>
            <a:prstDash val="solid"/>
          </a:ln>
        </p:spPr>
      </p:sp>
      <p:sp>
        <p:nvSpPr>
          <p:cNvPr id="4" name="Text 2"/>
          <p:cNvSpPr/>
          <p:nvPr/>
        </p:nvSpPr>
        <p:spPr>
          <a:xfrm>
            <a:off x="640080" y="1005840"/>
            <a:ext cx="7863840" cy="1645920"/>
          </a:xfrm>
          <a:prstGeom prst="rect">
            <a:avLst/>
          </a:prstGeom>
          <a:noFill/>
          <a:ln/>
        </p:spPr>
        <p:txBody>
          <a:bodyPr wrap="square" lIns="91440" tIns="45720" rIns="91440" bIns="45720" rtlCol="0" anchor="ctr"/>
          <a:lstStyle/>
          <a:p>
            <a:pPr algn="ctr"/>
            <a:r>
              <a:rPr lang="en-US" sz="3000" b="1">
                <a:solidFill>
                  <a:srgbClr val="000000"/>
                </a:solidFill>
                <a:latin typeface="Calibri"/>
                <a:ea typeface="Calibri"/>
                <a:cs typeface="Calibri"/>
              </a:rPr>
              <a:t>Exploring Hallucination Detection in</a:t>
            </a:r>
            <a:endParaRPr lang="en-US" sz="3000">
              <a:solidFill>
                <a:srgbClr val="000000"/>
              </a:solidFill>
              <a:latin typeface="Calibri"/>
              <a:ea typeface="Calibri"/>
              <a:cs typeface="Calibri"/>
            </a:endParaRPr>
          </a:p>
          <a:p>
            <a:pPr algn="ctr"/>
            <a:r>
              <a:rPr lang="en-US" sz="3000" b="1">
                <a:solidFill>
                  <a:srgbClr val="000000"/>
                </a:solidFill>
                <a:latin typeface="Calibri"/>
                <a:ea typeface="Calibri"/>
                <a:cs typeface="Calibri"/>
              </a:rPr>
              <a:t>Large Language Models</a:t>
            </a:r>
            <a:endParaRPr lang="en-US" sz="3000">
              <a:ea typeface="Calibri"/>
              <a:cs typeface="Calibri"/>
            </a:endParaRPr>
          </a:p>
        </p:txBody>
      </p:sp>
      <p:sp>
        <p:nvSpPr>
          <p:cNvPr id="5" name="Shape 3"/>
          <p:cNvSpPr/>
          <p:nvPr/>
        </p:nvSpPr>
        <p:spPr>
          <a:xfrm>
            <a:off x="1828800" y="2710519"/>
            <a:ext cx="5486400" cy="0"/>
          </a:xfrm>
          <a:prstGeom prst="line">
            <a:avLst/>
          </a:prstGeom>
          <a:noFill/>
          <a:ln w="12700">
            <a:solidFill>
              <a:schemeClr val="tx1"/>
            </a:solidFill>
            <a:prstDash val="solid"/>
          </a:ln>
        </p:spPr>
      </p:sp>
      <p:sp>
        <p:nvSpPr>
          <p:cNvPr id="6" name="Text 4"/>
          <p:cNvSpPr/>
          <p:nvPr/>
        </p:nvSpPr>
        <p:spPr>
          <a:xfrm>
            <a:off x="629497" y="3295565"/>
            <a:ext cx="7863840" cy="384048"/>
          </a:xfrm>
          <a:prstGeom prst="rect">
            <a:avLst/>
          </a:prstGeom>
          <a:noFill/>
          <a:ln/>
        </p:spPr>
        <p:txBody>
          <a:bodyPr wrap="square" lIns="91440" tIns="45720" rIns="91440" bIns="45720" rtlCol="0" anchor="ctr"/>
          <a:lstStyle/>
          <a:p>
            <a:pPr algn="ctr"/>
            <a:r>
              <a:rPr lang="en-US" sz="1400">
                <a:solidFill>
                  <a:srgbClr val="000000"/>
                </a:solidFill>
                <a:latin typeface="Calibri"/>
                <a:ea typeface="Calibri"/>
                <a:cs typeface="Calibri"/>
              </a:rPr>
              <a:t>Ajay Rajendra Kumar |   Vicky Daniel   |   Vaibhav Sankaran</a:t>
            </a:r>
            <a:endParaRPr lang="en-US" sz="1400">
              <a:latin typeface="Calibri"/>
              <a:ea typeface="Calibri"/>
              <a:cs typeface="Calibri"/>
            </a:endParaRPr>
          </a:p>
        </p:txBody>
      </p:sp>
      <p:sp>
        <p:nvSpPr>
          <p:cNvPr id="7" name="Text 5"/>
          <p:cNvSpPr/>
          <p:nvPr/>
        </p:nvSpPr>
        <p:spPr>
          <a:xfrm>
            <a:off x="640080" y="3795606"/>
            <a:ext cx="7863840" cy="347472"/>
          </a:xfrm>
          <a:prstGeom prst="rect">
            <a:avLst/>
          </a:prstGeom>
          <a:noFill/>
          <a:ln/>
        </p:spPr>
        <p:txBody>
          <a:bodyPr wrap="square" lIns="91440" tIns="45720" rIns="91440" bIns="45720" rtlCol="0" anchor="ctr"/>
          <a:lstStyle/>
          <a:p>
            <a:pPr marL="0" indent="0" algn="ctr">
              <a:buNone/>
            </a:pPr>
            <a:r>
              <a:rPr lang="en-US" sz="1300">
                <a:solidFill>
                  <a:srgbClr val="000000"/>
                </a:solidFill>
                <a:latin typeface="Calibri"/>
                <a:ea typeface="Calibri"/>
                <a:cs typeface="Calibri"/>
              </a:rPr>
              <a:t>CS6120 Natural Language Processing</a:t>
            </a:r>
            <a:endParaRPr lang="en-US" sz="1300">
              <a:latin typeface="Calibri"/>
              <a:ea typeface="Calibri"/>
              <a:cs typeface="Calibri"/>
            </a:endParaRPr>
          </a:p>
        </p:txBody>
      </p:sp>
      <p:sp>
        <p:nvSpPr>
          <p:cNvPr id="8" name="TextBox 7">
            <a:extLst>
              <a:ext uri="{FF2B5EF4-FFF2-40B4-BE49-F238E27FC236}">
                <a16:creationId xmlns:a16="http://schemas.microsoft.com/office/drawing/2014/main" id="{17455E79-736E-A6AA-EDC2-966E9A6CB0B4}"/>
              </a:ext>
            </a:extLst>
          </p:cNvPr>
          <p:cNvSpPr txBox="1"/>
          <p:nvPr/>
        </p:nvSpPr>
        <p:spPr>
          <a:xfrm>
            <a:off x="3194880" y="2906886"/>
            <a:ext cx="274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ea typeface="Calibri"/>
                <a:cs typeface="Calibri"/>
              </a:rPr>
              <a:t>Team - 111</a:t>
            </a:r>
          </a:p>
          <a:p>
            <a:pPr algn="l"/>
            <a:endParaRPr lang="en-US">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1111"/>
          </a:solidFill>
          <a:ln w="12700">
            <a:solidFill>
              <a:srgbClr val="111111"/>
            </a:solidFill>
            <a:prstDash val="solid"/>
          </a:ln>
        </p:spPr>
      </p:sp>
      <p:sp>
        <p:nvSpPr>
          <p:cNvPr id="3" name="Text 1"/>
          <p:cNvSpPr/>
          <p:nvPr/>
        </p:nvSpPr>
        <p:spPr>
          <a:xfrm>
            <a:off x="320040" y="0"/>
            <a:ext cx="8686800" cy="749808"/>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Problem Statement and Motivation</a:t>
            </a:r>
            <a:endParaRPr lang="en-US" sz="2200"/>
          </a:p>
        </p:txBody>
      </p:sp>
      <p:sp>
        <p:nvSpPr>
          <p:cNvPr id="4" name="Text 2"/>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pitchFamily="34" charset="0"/>
                <a:ea typeface="Calibri" pitchFamily="34" charset="-122"/>
                <a:cs typeface="Calibri" pitchFamily="34" charset="-120"/>
              </a:rPr>
              <a:t>2</a:t>
            </a:r>
            <a:endParaRPr lang="en-US" sz="900"/>
          </a:p>
        </p:txBody>
      </p:sp>
      <p:sp>
        <p:nvSpPr>
          <p:cNvPr id="5" name="Text 3"/>
          <p:cNvSpPr/>
          <p:nvPr/>
        </p:nvSpPr>
        <p:spPr>
          <a:xfrm>
            <a:off x="322954" y="1055607"/>
            <a:ext cx="8268743" cy="3699241"/>
          </a:xfrm>
          <a:prstGeom prst="rect">
            <a:avLst/>
          </a:prstGeom>
          <a:noFill/>
          <a:ln/>
        </p:spPr>
        <p:txBody>
          <a:bodyPr wrap="square" lIns="91440" tIns="45720" rIns="91440" bIns="45720" rtlCol="0" anchor="t"/>
          <a:lstStyle/>
          <a:p>
            <a:pPr marL="285750" indent="-285750">
              <a:lnSpc>
                <a:spcPct val="150000"/>
              </a:lnSpc>
              <a:spcAft>
                <a:spcPts val="200"/>
              </a:spcAft>
              <a:buFont typeface="Calibri"/>
              <a:buChar char="-"/>
            </a:pPr>
            <a:r>
              <a:rPr lang="en-US" sz="1400" b="1">
                <a:solidFill>
                  <a:srgbClr val="000000"/>
                </a:solidFill>
                <a:latin typeface="Calibri"/>
                <a:ea typeface="Calibri"/>
                <a:cs typeface="Calibri"/>
              </a:rPr>
              <a:t>What is hallucination in LLMs?</a:t>
            </a:r>
            <a:endParaRPr lang="en-US" b="1">
              <a:ea typeface="Calibri"/>
              <a:cs typeface="Calibri"/>
            </a:endParaRP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LLMs generate fluent but factually incorrect or unsupported text</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Particularly harmful in open-domain QA where accuracy is critical</a:t>
            </a:r>
          </a:p>
          <a:p>
            <a:pPr marL="285750" indent="-285750">
              <a:lnSpc>
                <a:spcPct val="150000"/>
              </a:lnSpc>
              <a:spcAft>
                <a:spcPts val="200"/>
              </a:spcAft>
              <a:buFont typeface="Calibri"/>
              <a:buChar char="-"/>
            </a:pPr>
            <a:r>
              <a:rPr lang="en-US" sz="1400" b="1">
                <a:solidFill>
                  <a:srgbClr val="000000"/>
                </a:solidFill>
                <a:latin typeface="Calibri"/>
                <a:ea typeface="Calibri"/>
                <a:cs typeface="Calibri"/>
              </a:rPr>
              <a:t>Why is it hard to detect?</a:t>
            </a:r>
            <a:endParaRPr lang="en-US" sz="1400" b="1">
              <a:latin typeface="Calibri"/>
              <a:ea typeface="Calibri"/>
              <a:cs typeface="Calibri"/>
            </a:endParaRP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Existing methods rely on repeated sampling which is expensive and slow</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Post-processing approaches add latency at inference time</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Supervised methods require costly human-annotated hallucination labels</a:t>
            </a:r>
          </a:p>
          <a:p>
            <a:pPr marL="285750" indent="-285750">
              <a:lnSpc>
                <a:spcPct val="150000"/>
              </a:lnSpc>
              <a:spcAft>
                <a:spcPts val="200"/>
              </a:spcAft>
              <a:buFont typeface="Calibri"/>
              <a:buChar char="-"/>
            </a:pPr>
            <a:r>
              <a:rPr lang="en-US" sz="1400">
                <a:solidFill>
                  <a:srgbClr val="000000"/>
                </a:solidFill>
                <a:latin typeface="Calibri"/>
                <a:ea typeface="Calibri"/>
                <a:cs typeface="Calibri"/>
              </a:rPr>
              <a:t> </a:t>
            </a:r>
            <a:r>
              <a:rPr lang="en-US" sz="1400" b="1">
                <a:solidFill>
                  <a:srgbClr val="000000"/>
                </a:solidFill>
                <a:latin typeface="Calibri"/>
                <a:ea typeface="Calibri"/>
                <a:cs typeface="Calibri"/>
              </a:rPr>
              <a:t>Our motivation</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Detect hallucinations in real-time during inference with no annotation cost</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LLMs may already encode uncertainty in their internal representations</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Build a lightweight, model-agnostic detection and mitigation framework</a:t>
            </a:r>
            <a:endParaRPr lang="en-US" sz="1200">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1111"/>
          </a:solidFill>
          <a:ln w="12700">
            <a:solidFill>
              <a:srgbClr val="111111"/>
            </a:solidFill>
            <a:prstDash val="solid"/>
          </a:ln>
        </p:spPr>
      </p:sp>
      <p:sp>
        <p:nvSpPr>
          <p:cNvPr id="3" name="Text 1"/>
          <p:cNvSpPr/>
          <p:nvPr/>
        </p:nvSpPr>
        <p:spPr>
          <a:xfrm>
            <a:off x="320040" y="0"/>
            <a:ext cx="8686800" cy="749808"/>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Prior Work Review</a:t>
            </a:r>
            <a:endParaRPr lang="en-US" sz="2200"/>
          </a:p>
        </p:txBody>
      </p:sp>
      <p:sp>
        <p:nvSpPr>
          <p:cNvPr id="4" name="Text 2"/>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pitchFamily="34" charset="0"/>
                <a:ea typeface="Calibri" pitchFamily="34" charset="-122"/>
                <a:cs typeface="Calibri" pitchFamily="34" charset="-120"/>
              </a:rPr>
              <a:t>3</a:t>
            </a:r>
            <a:endParaRPr lang="en-US" sz="900"/>
          </a:p>
        </p:txBody>
      </p:sp>
      <p:sp>
        <p:nvSpPr>
          <p:cNvPr id="5" name="Text 3"/>
          <p:cNvSpPr/>
          <p:nvPr/>
        </p:nvSpPr>
        <p:spPr>
          <a:xfrm>
            <a:off x="319119" y="1095770"/>
            <a:ext cx="8279236" cy="3668830"/>
          </a:xfrm>
          <a:prstGeom prst="rect">
            <a:avLst/>
          </a:prstGeom>
          <a:noFill/>
          <a:ln/>
        </p:spPr>
        <p:txBody>
          <a:bodyPr wrap="square" lIns="91440" tIns="45720" rIns="91440" bIns="45720" rtlCol="0" anchor="t"/>
          <a:lstStyle/>
          <a:p>
            <a:pPr marL="285750" indent="-285750">
              <a:lnSpc>
                <a:spcPct val="150000"/>
              </a:lnSpc>
              <a:spcAft>
                <a:spcPts val="200"/>
              </a:spcAft>
              <a:buFont typeface="Calibri"/>
              <a:buChar char="-"/>
            </a:pPr>
            <a:r>
              <a:rPr lang="en-US" sz="1400" b="1">
                <a:solidFill>
                  <a:srgbClr val="000000"/>
                </a:solidFill>
                <a:latin typeface="Calibri"/>
                <a:ea typeface="Calibri"/>
                <a:cs typeface="Calibri"/>
              </a:rPr>
              <a:t>Sampling-based methods (</a:t>
            </a:r>
            <a:r>
              <a:rPr lang="en-US" sz="1400" b="1" err="1">
                <a:solidFill>
                  <a:srgbClr val="000000"/>
                </a:solidFill>
                <a:latin typeface="Calibri"/>
                <a:ea typeface="Calibri"/>
                <a:cs typeface="Calibri"/>
              </a:rPr>
              <a:t>SelfCheckGPT</a:t>
            </a:r>
            <a:r>
              <a:rPr lang="en-US" sz="1400" b="1">
                <a:solidFill>
                  <a:srgbClr val="000000"/>
                </a:solidFill>
                <a:latin typeface="Calibri"/>
                <a:ea typeface="Calibri"/>
                <a:cs typeface="Calibri"/>
              </a:rPr>
              <a:t>)</a:t>
            </a:r>
            <a:endParaRPr lang="en-US" b="1"/>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Generate multiple outputs and compare consistency across samples</a:t>
            </a:r>
          </a:p>
          <a:p>
            <a:pPr marL="742950" lvl="1" indent="-285750">
              <a:lnSpc>
                <a:spcPct val="150000"/>
              </a:lnSpc>
              <a:spcAft>
                <a:spcPts val="200"/>
              </a:spcAft>
              <a:buFont typeface="Courier New"/>
              <a:buChar char="o"/>
            </a:pPr>
            <a:r>
              <a:rPr lang="en-US" sz="1200" b="1">
                <a:solidFill>
                  <a:srgbClr val="000000"/>
                </a:solidFill>
                <a:latin typeface="Calibri"/>
                <a:ea typeface="Calibri"/>
                <a:cs typeface="Calibri"/>
              </a:rPr>
              <a:t>High compute cost</a:t>
            </a:r>
            <a:r>
              <a:rPr lang="en-US" sz="1200">
                <a:solidFill>
                  <a:srgbClr val="000000"/>
                </a:solidFill>
                <a:latin typeface="Calibri"/>
                <a:ea typeface="Calibri"/>
                <a:cs typeface="Calibri"/>
              </a:rPr>
              <a:t> - requires N forward passes per query</a:t>
            </a:r>
          </a:p>
          <a:p>
            <a:pPr marL="285750" indent="-285750">
              <a:lnSpc>
                <a:spcPct val="150000"/>
              </a:lnSpc>
              <a:spcAft>
                <a:spcPts val="200"/>
              </a:spcAft>
              <a:buFont typeface="Calibri"/>
              <a:buChar char="-"/>
            </a:pPr>
            <a:r>
              <a:rPr lang="en-US" sz="1400" b="1">
                <a:solidFill>
                  <a:srgbClr val="000000"/>
                </a:solidFill>
                <a:latin typeface="Calibri"/>
                <a:ea typeface="Calibri"/>
                <a:cs typeface="Calibri"/>
              </a:rPr>
              <a:t> Retrieval-Augmented Generation (RAG)</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Grounds answers in external documents to reduce fabrication</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Prevents hallucination but does not detect it post-generation</a:t>
            </a:r>
          </a:p>
          <a:p>
            <a:pPr marL="285750" indent="-285750">
              <a:lnSpc>
                <a:spcPct val="150000"/>
              </a:lnSpc>
              <a:spcAft>
                <a:spcPts val="200"/>
              </a:spcAft>
              <a:buFont typeface="Calibri"/>
              <a:buChar char="-"/>
            </a:pPr>
            <a:r>
              <a:rPr lang="en-US" sz="1400" b="1">
                <a:solidFill>
                  <a:srgbClr val="000000"/>
                </a:solidFill>
                <a:latin typeface="Calibri"/>
                <a:ea typeface="Calibri"/>
                <a:cs typeface="Calibri"/>
              </a:rPr>
              <a:t>Probing internal states (ITI - Inference-Time Intervention)</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Uses hidden states to predict truthfulness</a:t>
            </a:r>
          </a:p>
          <a:p>
            <a:pPr marL="742950" lvl="1" indent="-285750">
              <a:lnSpc>
                <a:spcPct val="150000"/>
              </a:lnSpc>
              <a:spcAft>
                <a:spcPts val="200"/>
              </a:spcAft>
              <a:buFont typeface="Courier New"/>
              <a:buChar char="o"/>
            </a:pPr>
            <a:r>
              <a:rPr lang="en-US" sz="1200">
                <a:solidFill>
                  <a:srgbClr val="000000"/>
                </a:solidFill>
                <a:latin typeface="Calibri"/>
                <a:ea typeface="Calibri"/>
                <a:cs typeface="Calibri"/>
              </a:rPr>
              <a:t>Supervised - depends on labeled training data per model</a:t>
            </a:r>
          </a:p>
          <a:p>
            <a:pPr marL="285750" indent="-285750">
              <a:lnSpc>
                <a:spcPct val="150000"/>
              </a:lnSpc>
              <a:spcAft>
                <a:spcPts val="200"/>
              </a:spcAft>
              <a:buFont typeface="Calibri"/>
              <a:buChar char="-"/>
            </a:pPr>
            <a:r>
              <a:rPr lang="en-US" sz="1400">
                <a:solidFill>
                  <a:srgbClr val="000000"/>
                </a:solidFill>
                <a:latin typeface="Calibri"/>
                <a:ea typeface="Calibri"/>
                <a:cs typeface="Calibri"/>
              </a:rPr>
              <a:t>How about we use internal states of LLMs to guide hallucination detection?</a:t>
            </a:r>
            <a:endParaRPr lang="en-US" sz="1400">
              <a:latin typeface="Calibri"/>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1111"/>
          </a:solidFill>
          <a:ln w="12700">
            <a:solidFill>
              <a:srgbClr val="111111"/>
            </a:solidFill>
            <a:prstDash val="solid"/>
          </a:ln>
        </p:spPr>
      </p:sp>
      <p:sp>
        <p:nvSpPr>
          <p:cNvPr id="3" name="Text 1"/>
          <p:cNvSpPr/>
          <p:nvPr/>
        </p:nvSpPr>
        <p:spPr>
          <a:xfrm>
            <a:off x="320040" y="0"/>
            <a:ext cx="8686800" cy="749808"/>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Base Paper: The MIND Framework</a:t>
            </a:r>
            <a:endParaRPr lang="en-US" sz="2200">
              <a:latin typeface="Calibri"/>
              <a:ea typeface="Calibri"/>
              <a:cs typeface="Calibri"/>
            </a:endParaRPr>
          </a:p>
        </p:txBody>
      </p:sp>
      <p:sp>
        <p:nvSpPr>
          <p:cNvPr id="4" name="Text 2"/>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pitchFamily="34" charset="0"/>
                <a:ea typeface="Calibri" pitchFamily="34" charset="-122"/>
                <a:cs typeface="Calibri" pitchFamily="34" charset="-120"/>
              </a:rPr>
              <a:t>4</a:t>
            </a:r>
            <a:endParaRPr lang="en-US" sz="900"/>
          </a:p>
        </p:txBody>
      </p:sp>
      <p:sp>
        <p:nvSpPr>
          <p:cNvPr id="5" name="Text 3"/>
          <p:cNvSpPr/>
          <p:nvPr/>
        </p:nvSpPr>
        <p:spPr>
          <a:xfrm>
            <a:off x="321689" y="3148820"/>
            <a:ext cx="8272274" cy="1701541"/>
          </a:xfrm>
          <a:prstGeom prst="rect">
            <a:avLst/>
          </a:prstGeom>
          <a:noFill/>
          <a:ln/>
        </p:spPr>
        <p:txBody>
          <a:bodyPr wrap="square" lIns="91440" tIns="45720" rIns="91440" bIns="45720" rtlCol="0" anchor="t"/>
          <a:lstStyle/>
          <a:p>
            <a:pPr marL="171450" indent="-171450">
              <a:lnSpc>
                <a:spcPct val="150000"/>
              </a:lnSpc>
              <a:spcAft>
                <a:spcPts val="200"/>
              </a:spcAft>
              <a:buFont typeface="Calibri"/>
              <a:buChar char="-"/>
            </a:pPr>
            <a:r>
              <a:rPr lang="en-US" sz="1200">
                <a:solidFill>
                  <a:srgbClr val="000000"/>
                </a:solidFill>
                <a:latin typeface="Calibri"/>
                <a:ea typeface="Calibri"/>
                <a:cs typeface="Calibri"/>
              </a:rPr>
              <a:t>Uses internal states of the model to detect hallucinations</a:t>
            </a:r>
          </a:p>
          <a:p>
            <a:pPr marL="171450" indent="-171450">
              <a:lnSpc>
                <a:spcPct val="150000"/>
              </a:lnSpc>
              <a:spcAft>
                <a:spcPts val="200"/>
              </a:spcAft>
              <a:buFont typeface="Calibri"/>
              <a:buChar char="-"/>
            </a:pPr>
            <a:r>
              <a:rPr lang="en-US" sz="1200">
                <a:solidFill>
                  <a:srgbClr val="000000"/>
                </a:solidFill>
                <a:latin typeface="Calibri"/>
                <a:ea typeface="Calibri"/>
                <a:cs typeface="Calibri"/>
              </a:rPr>
              <a:t>Key insight: Aggregate last token embedding of every layer</a:t>
            </a:r>
          </a:p>
          <a:p>
            <a:pPr marL="171450" indent="-171450">
              <a:lnSpc>
                <a:spcPct val="150000"/>
              </a:lnSpc>
              <a:spcAft>
                <a:spcPts val="200"/>
              </a:spcAft>
              <a:buFont typeface="Calibri"/>
              <a:buChar char="-"/>
            </a:pPr>
            <a:r>
              <a:rPr lang="en-US" sz="1200">
                <a:solidFill>
                  <a:srgbClr val="000000"/>
                </a:solidFill>
                <a:latin typeface="Calibri"/>
                <a:ea typeface="Calibri"/>
                <a:cs typeface="Calibri"/>
              </a:rPr>
              <a:t>Self-supervised data generation</a:t>
            </a:r>
          </a:p>
          <a:p>
            <a:pPr marL="171450" indent="-171450">
              <a:lnSpc>
                <a:spcPct val="150000"/>
              </a:lnSpc>
              <a:spcAft>
                <a:spcPts val="200"/>
              </a:spcAft>
              <a:buFont typeface="Calibri"/>
              <a:buChar char="-"/>
            </a:pPr>
            <a:r>
              <a:rPr lang="en-US" sz="1200">
                <a:solidFill>
                  <a:srgbClr val="000000"/>
                </a:solidFill>
                <a:latin typeface="Calibri"/>
                <a:ea typeface="Calibri"/>
                <a:cs typeface="Calibri"/>
              </a:rPr>
              <a:t>Train a light-weight MLP to perform classification </a:t>
            </a:r>
          </a:p>
          <a:p>
            <a:pPr marL="171450" indent="-171450">
              <a:lnSpc>
                <a:spcPct val="150000"/>
              </a:lnSpc>
              <a:spcAft>
                <a:spcPts val="200"/>
              </a:spcAft>
              <a:buFont typeface="Calibri"/>
              <a:buChar char="-"/>
            </a:pPr>
            <a:r>
              <a:rPr lang="en-US" sz="1200">
                <a:solidFill>
                  <a:srgbClr val="000000"/>
                </a:solidFill>
                <a:latin typeface="Calibri"/>
                <a:ea typeface="Calibri"/>
                <a:cs typeface="Calibri"/>
              </a:rPr>
              <a:t>Predicts hallucination at sentence level during generation</a:t>
            </a:r>
            <a:endParaRPr lang="en-US" sz="1200">
              <a:latin typeface="Calibri"/>
              <a:ea typeface="Calibri"/>
              <a:cs typeface="Calibri"/>
            </a:endParaRPr>
          </a:p>
        </p:txBody>
      </p:sp>
      <p:pic>
        <p:nvPicPr>
          <p:cNvPr id="6" name="Picture 5" descr="A close-up of a text&#10;&#10;AI-generated content may be incorrect.">
            <a:extLst>
              <a:ext uri="{FF2B5EF4-FFF2-40B4-BE49-F238E27FC236}">
                <a16:creationId xmlns:a16="http://schemas.microsoft.com/office/drawing/2014/main" id="{A139F5B0-E2F0-0134-E83C-D8383965EEEE}"/>
              </a:ext>
            </a:extLst>
          </p:cNvPr>
          <p:cNvPicPr>
            <a:picLocks noChangeAspect="1"/>
          </p:cNvPicPr>
          <p:nvPr/>
        </p:nvPicPr>
        <p:blipFill>
          <a:blip r:embed="rId3"/>
          <a:stretch>
            <a:fillRect/>
          </a:stretch>
        </p:blipFill>
        <p:spPr>
          <a:xfrm>
            <a:off x="1131217" y="988406"/>
            <a:ext cx="6657680" cy="20001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1111"/>
          </a:solidFill>
          <a:ln w="12700">
            <a:solidFill>
              <a:srgbClr val="111111"/>
            </a:solidFill>
            <a:prstDash val="solid"/>
          </a:ln>
        </p:spPr>
      </p:sp>
      <p:sp>
        <p:nvSpPr>
          <p:cNvPr id="3" name="Text 1"/>
          <p:cNvSpPr/>
          <p:nvPr/>
        </p:nvSpPr>
        <p:spPr>
          <a:xfrm>
            <a:off x="320040" y="0"/>
            <a:ext cx="8686800" cy="749808"/>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MIND: System Architecture</a:t>
            </a:r>
            <a:endParaRPr lang="en-US" sz="2200"/>
          </a:p>
        </p:txBody>
      </p:sp>
      <p:sp>
        <p:nvSpPr>
          <p:cNvPr id="4" name="Text 2"/>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pitchFamily="34" charset="0"/>
                <a:ea typeface="Calibri" pitchFamily="34" charset="-122"/>
                <a:cs typeface="Calibri" pitchFamily="34" charset="-120"/>
              </a:rPr>
              <a:t>5</a:t>
            </a:r>
            <a:endParaRPr lang="en-US" sz="900"/>
          </a:p>
        </p:txBody>
      </p:sp>
      <p:pic>
        <p:nvPicPr>
          <p:cNvPr id="32" name="Picture 31" descr="A diagram of a process">
            <a:extLst>
              <a:ext uri="{FF2B5EF4-FFF2-40B4-BE49-F238E27FC236}">
                <a16:creationId xmlns:a16="http://schemas.microsoft.com/office/drawing/2014/main" id="{6AAADC6F-7EB6-47BE-0C9C-050515D549A9}"/>
              </a:ext>
            </a:extLst>
          </p:cNvPr>
          <p:cNvPicPr>
            <a:picLocks noChangeAspect="1"/>
          </p:cNvPicPr>
          <p:nvPr/>
        </p:nvPicPr>
        <p:blipFill>
          <a:blip r:embed="rId3"/>
          <a:srcRect l="732" b="193"/>
          <a:stretch>
            <a:fillRect/>
          </a:stretch>
        </p:blipFill>
        <p:spPr>
          <a:xfrm>
            <a:off x="375812" y="1045883"/>
            <a:ext cx="8356924" cy="35323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7966934-760A-5012-2EAE-ED06AE62015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526642-F6BF-0FA7-68A6-6128051B2AE7}"/>
              </a:ext>
            </a:extLst>
          </p:cNvPr>
          <p:cNvSpPr/>
          <p:nvPr/>
        </p:nvSpPr>
        <p:spPr>
          <a:xfrm>
            <a:off x="0" y="0"/>
            <a:ext cx="9144000" cy="749808"/>
          </a:xfrm>
          <a:prstGeom prst="rect">
            <a:avLst/>
          </a:prstGeom>
          <a:solidFill>
            <a:srgbClr val="111111"/>
          </a:solidFill>
          <a:ln w="12700">
            <a:solidFill>
              <a:srgbClr val="111111"/>
            </a:solidFill>
            <a:prstDash val="solid"/>
          </a:ln>
        </p:spPr>
      </p:sp>
      <p:sp>
        <p:nvSpPr>
          <p:cNvPr id="3" name="Text 1">
            <a:extLst>
              <a:ext uri="{FF2B5EF4-FFF2-40B4-BE49-F238E27FC236}">
                <a16:creationId xmlns:a16="http://schemas.microsoft.com/office/drawing/2014/main" id="{E47D647A-5FEB-FC2F-D55B-583FF0D16193}"/>
              </a:ext>
            </a:extLst>
          </p:cNvPr>
          <p:cNvSpPr/>
          <p:nvPr/>
        </p:nvSpPr>
        <p:spPr>
          <a:xfrm>
            <a:off x="320040" y="0"/>
            <a:ext cx="8686800" cy="749808"/>
          </a:xfrm>
          <a:prstGeom prst="rect">
            <a:avLst/>
          </a:prstGeom>
          <a:noFill/>
          <a:ln/>
        </p:spPr>
        <p:txBody>
          <a:bodyPr wrap="square" lIns="0" tIns="0" rIns="0" bIns="0" rtlCol="0" anchor="ctr"/>
          <a:lstStyle/>
          <a:p>
            <a:pPr marL="0" indent="0">
              <a:buNone/>
            </a:pPr>
            <a:r>
              <a:rPr lang="en-US" sz="2200" b="1">
                <a:solidFill>
                  <a:srgbClr val="FFFFFF"/>
                </a:solidFill>
                <a:latin typeface="Calibri"/>
                <a:ea typeface="Calibri"/>
                <a:cs typeface="Calibri"/>
              </a:rPr>
              <a:t>Method-1</a:t>
            </a:r>
            <a:endParaRPr lang="en-US"/>
          </a:p>
        </p:txBody>
      </p:sp>
      <p:sp>
        <p:nvSpPr>
          <p:cNvPr id="4" name="Text 2">
            <a:extLst>
              <a:ext uri="{FF2B5EF4-FFF2-40B4-BE49-F238E27FC236}">
                <a16:creationId xmlns:a16="http://schemas.microsoft.com/office/drawing/2014/main" id="{C506419B-0AEC-A4DA-67A1-238EA84F60DE}"/>
              </a:ext>
            </a:extLst>
          </p:cNvPr>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a:ea typeface="Calibri"/>
                <a:cs typeface="Calibri"/>
              </a:rPr>
              <a:t>6</a:t>
            </a:r>
            <a:endParaRPr lang="en-US" sz="900"/>
          </a:p>
        </p:txBody>
      </p:sp>
      <p:pic>
        <p:nvPicPr>
          <p:cNvPr id="6" name="Picture 5" descr="A diagram of a light source">
            <a:extLst>
              <a:ext uri="{FF2B5EF4-FFF2-40B4-BE49-F238E27FC236}">
                <a16:creationId xmlns:a16="http://schemas.microsoft.com/office/drawing/2014/main" id="{705388F9-40E7-D957-6DE1-C4262A8042A4}"/>
              </a:ext>
            </a:extLst>
          </p:cNvPr>
          <p:cNvPicPr>
            <a:picLocks noChangeAspect="1"/>
          </p:cNvPicPr>
          <p:nvPr/>
        </p:nvPicPr>
        <p:blipFill>
          <a:blip r:embed="rId3"/>
          <a:stretch>
            <a:fillRect/>
          </a:stretch>
        </p:blipFill>
        <p:spPr>
          <a:xfrm>
            <a:off x="657402" y="895429"/>
            <a:ext cx="7213831" cy="4065912"/>
          </a:xfrm>
          <a:prstGeom prst="rect">
            <a:avLst/>
          </a:prstGeom>
        </p:spPr>
      </p:pic>
    </p:spTree>
    <p:extLst>
      <p:ext uri="{BB962C8B-B14F-4D97-AF65-F5344CB8AC3E}">
        <p14:creationId xmlns:p14="http://schemas.microsoft.com/office/powerpoint/2010/main" val="1228035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18F250A-9970-3FFB-4C68-85EB386836D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68D5FD8-D403-8429-E52C-67AA45BBD28D}"/>
              </a:ext>
            </a:extLst>
          </p:cNvPr>
          <p:cNvSpPr/>
          <p:nvPr/>
        </p:nvSpPr>
        <p:spPr>
          <a:xfrm>
            <a:off x="0" y="0"/>
            <a:ext cx="9144000" cy="749808"/>
          </a:xfrm>
          <a:prstGeom prst="rect">
            <a:avLst/>
          </a:prstGeom>
          <a:solidFill>
            <a:srgbClr val="111111"/>
          </a:solidFill>
          <a:ln w="12700">
            <a:solidFill>
              <a:srgbClr val="111111"/>
            </a:solidFill>
            <a:prstDash val="solid"/>
          </a:ln>
        </p:spPr>
      </p:sp>
      <p:sp>
        <p:nvSpPr>
          <p:cNvPr id="3" name="Text 1">
            <a:extLst>
              <a:ext uri="{FF2B5EF4-FFF2-40B4-BE49-F238E27FC236}">
                <a16:creationId xmlns:a16="http://schemas.microsoft.com/office/drawing/2014/main" id="{98280D40-7EF4-313A-233F-6EAC3F8019AA}"/>
              </a:ext>
            </a:extLst>
          </p:cNvPr>
          <p:cNvSpPr/>
          <p:nvPr/>
        </p:nvSpPr>
        <p:spPr>
          <a:xfrm>
            <a:off x="320040" y="0"/>
            <a:ext cx="8686800" cy="749808"/>
          </a:xfrm>
          <a:prstGeom prst="rect">
            <a:avLst/>
          </a:prstGeom>
          <a:noFill/>
          <a:ln/>
        </p:spPr>
        <p:txBody>
          <a:bodyPr wrap="square" lIns="0" tIns="0" rIns="0" bIns="0" rtlCol="0" anchor="ctr"/>
          <a:lstStyle/>
          <a:p>
            <a:pPr marL="0" indent="0">
              <a:buNone/>
            </a:pPr>
            <a:r>
              <a:rPr lang="en-US" sz="2200" b="1">
                <a:solidFill>
                  <a:srgbClr val="FFFFFF"/>
                </a:solidFill>
                <a:latin typeface="Calibri"/>
                <a:ea typeface="Calibri"/>
                <a:cs typeface="Calibri"/>
              </a:rPr>
              <a:t>Method-2</a:t>
            </a:r>
            <a:endParaRPr lang="en-US"/>
          </a:p>
        </p:txBody>
      </p:sp>
      <p:sp>
        <p:nvSpPr>
          <p:cNvPr id="4" name="Text 2">
            <a:extLst>
              <a:ext uri="{FF2B5EF4-FFF2-40B4-BE49-F238E27FC236}">
                <a16:creationId xmlns:a16="http://schemas.microsoft.com/office/drawing/2014/main" id="{44C0DB62-2D76-2C46-C042-3722ABE417E8}"/>
              </a:ext>
            </a:extLst>
          </p:cNvPr>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a:ea typeface="Calibri"/>
                <a:cs typeface="Calibri"/>
              </a:rPr>
              <a:t>7</a:t>
            </a:r>
            <a:endParaRPr lang="en-US" sz="900"/>
          </a:p>
        </p:txBody>
      </p:sp>
      <p:pic>
        <p:nvPicPr>
          <p:cNvPr id="5" name="Picture 4">
            <a:extLst>
              <a:ext uri="{FF2B5EF4-FFF2-40B4-BE49-F238E27FC236}">
                <a16:creationId xmlns:a16="http://schemas.microsoft.com/office/drawing/2014/main" id="{D8CA36EB-DF51-1FB6-EB54-042959FC3EEA}"/>
              </a:ext>
            </a:extLst>
          </p:cNvPr>
          <p:cNvPicPr>
            <a:picLocks noChangeAspect="1"/>
          </p:cNvPicPr>
          <p:nvPr/>
        </p:nvPicPr>
        <p:blipFill>
          <a:blip r:embed="rId3"/>
          <a:stretch>
            <a:fillRect/>
          </a:stretch>
        </p:blipFill>
        <p:spPr>
          <a:xfrm>
            <a:off x="1219520" y="934195"/>
            <a:ext cx="6112790" cy="4143375"/>
          </a:xfrm>
          <a:prstGeom prst="rect">
            <a:avLst/>
          </a:prstGeom>
        </p:spPr>
      </p:pic>
    </p:spTree>
    <p:extLst>
      <p:ext uri="{BB962C8B-B14F-4D97-AF65-F5344CB8AC3E}">
        <p14:creationId xmlns:p14="http://schemas.microsoft.com/office/powerpoint/2010/main" val="3449474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9B45C09-23F0-395F-F647-EEDA4965069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23C46CA-32D3-2980-4E0D-23ED9CEFEC8A}"/>
              </a:ext>
            </a:extLst>
          </p:cNvPr>
          <p:cNvSpPr/>
          <p:nvPr/>
        </p:nvSpPr>
        <p:spPr>
          <a:xfrm>
            <a:off x="0" y="0"/>
            <a:ext cx="9144000" cy="749808"/>
          </a:xfrm>
          <a:prstGeom prst="rect">
            <a:avLst/>
          </a:prstGeom>
          <a:solidFill>
            <a:srgbClr val="111111"/>
          </a:solidFill>
          <a:ln w="12700">
            <a:solidFill>
              <a:srgbClr val="111111"/>
            </a:solidFill>
            <a:prstDash val="solid"/>
          </a:ln>
        </p:spPr>
      </p:sp>
      <p:sp>
        <p:nvSpPr>
          <p:cNvPr id="3" name="Text 1">
            <a:extLst>
              <a:ext uri="{FF2B5EF4-FFF2-40B4-BE49-F238E27FC236}">
                <a16:creationId xmlns:a16="http://schemas.microsoft.com/office/drawing/2014/main" id="{13921879-4681-99F9-3B9B-BAB5312D50B1}"/>
              </a:ext>
            </a:extLst>
          </p:cNvPr>
          <p:cNvSpPr/>
          <p:nvPr/>
        </p:nvSpPr>
        <p:spPr>
          <a:xfrm>
            <a:off x="320040" y="0"/>
            <a:ext cx="8686800" cy="749808"/>
          </a:xfrm>
          <a:prstGeom prst="rect">
            <a:avLst/>
          </a:prstGeom>
          <a:noFill/>
          <a:ln/>
        </p:spPr>
        <p:txBody>
          <a:bodyPr wrap="square" lIns="0" tIns="0" rIns="0" bIns="0" rtlCol="0" anchor="ctr"/>
          <a:lstStyle/>
          <a:p>
            <a:pPr marL="0" indent="0">
              <a:buNone/>
            </a:pPr>
            <a:r>
              <a:rPr lang="en-US" sz="2200" b="1">
                <a:solidFill>
                  <a:srgbClr val="FFFFFF"/>
                </a:solidFill>
                <a:latin typeface="Calibri"/>
                <a:ea typeface="Calibri"/>
                <a:cs typeface="Calibri"/>
              </a:rPr>
              <a:t>Method-3</a:t>
            </a:r>
            <a:endParaRPr lang="en-US"/>
          </a:p>
        </p:txBody>
      </p:sp>
      <p:sp>
        <p:nvSpPr>
          <p:cNvPr id="4" name="Text 2">
            <a:extLst>
              <a:ext uri="{FF2B5EF4-FFF2-40B4-BE49-F238E27FC236}">
                <a16:creationId xmlns:a16="http://schemas.microsoft.com/office/drawing/2014/main" id="{2BE0493E-7B9A-DBB1-BF9B-8E4791D9228E}"/>
              </a:ext>
            </a:extLst>
          </p:cNvPr>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a:ea typeface="Calibri"/>
                <a:cs typeface="Calibri"/>
              </a:rPr>
              <a:t>7</a:t>
            </a:r>
            <a:endParaRPr lang="en-US" sz="900"/>
          </a:p>
        </p:txBody>
      </p:sp>
      <p:pic>
        <p:nvPicPr>
          <p:cNvPr id="6" name="Picture 5" descr="A diagram of a diagram&#10;&#10;AI-generated content may be incorrect.">
            <a:extLst>
              <a:ext uri="{FF2B5EF4-FFF2-40B4-BE49-F238E27FC236}">
                <a16:creationId xmlns:a16="http://schemas.microsoft.com/office/drawing/2014/main" id="{2EB017E1-3915-6A43-DD56-D71D7E73B3B8}"/>
              </a:ext>
            </a:extLst>
          </p:cNvPr>
          <p:cNvPicPr>
            <a:picLocks noChangeAspect="1"/>
          </p:cNvPicPr>
          <p:nvPr/>
        </p:nvPicPr>
        <p:blipFill>
          <a:blip r:embed="rId3"/>
          <a:stretch>
            <a:fillRect/>
          </a:stretch>
        </p:blipFill>
        <p:spPr>
          <a:xfrm>
            <a:off x="1257259" y="985591"/>
            <a:ext cx="6631998" cy="4093394"/>
          </a:xfrm>
          <a:prstGeom prst="rect">
            <a:avLst/>
          </a:prstGeom>
        </p:spPr>
      </p:pic>
    </p:spTree>
    <p:extLst>
      <p:ext uri="{BB962C8B-B14F-4D97-AF65-F5344CB8AC3E}">
        <p14:creationId xmlns:p14="http://schemas.microsoft.com/office/powerpoint/2010/main" val="985773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99C8DF5-93C0-8EC1-D97C-7AD23B8A457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265A42-ED35-8299-B664-6410D7941AF7}"/>
              </a:ext>
            </a:extLst>
          </p:cNvPr>
          <p:cNvSpPr/>
          <p:nvPr/>
        </p:nvSpPr>
        <p:spPr>
          <a:xfrm>
            <a:off x="0" y="0"/>
            <a:ext cx="9144000" cy="749808"/>
          </a:xfrm>
          <a:prstGeom prst="rect">
            <a:avLst/>
          </a:prstGeom>
          <a:solidFill>
            <a:srgbClr val="111111"/>
          </a:solidFill>
          <a:ln w="12700">
            <a:solidFill>
              <a:srgbClr val="111111"/>
            </a:solidFill>
            <a:prstDash val="solid"/>
          </a:ln>
        </p:spPr>
      </p:sp>
      <p:sp>
        <p:nvSpPr>
          <p:cNvPr id="3" name="Text 1">
            <a:extLst>
              <a:ext uri="{FF2B5EF4-FFF2-40B4-BE49-F238E27FC236}">
                <a16:creationId xmlns:a16="http://schemas.microsoft.com/office/drawing/2014/main" id="{319447C5-25AE-5AA8-C650-57A014183408}"/>
              </a:ext>
            </a:extLst>
          </p:cNvPr>
          <p:cNvSpPr/>
          <p:nvPr/>
        </p:nvSpPr>
        <p:spPr>
          <a:xfrm>
            <a:off x="320040" y="0"/>
            <a:ext cx="8686800" cy="749808"/>
          </a:xfrm>
          <a:prstGeom prst="rect">
            <a:avLst/>
          </a:prstGeom>
          <a:noFill/>
          <a:ln/>
        </p:spPr>
        <p:txBody>
          <a:bodyPr wrap="square" lIns="0" tIns="0" rIns="0" bIns="0" rtlCol="0" anchor="ctr"/>
          <a:lstStyle/>
          <a:p>
            <a:pPr marL="0" indent="0">
              <a:buNone/>
            </a:pPr>
            <a:r>
              <a:rPr lang="en-US" sz="2200" b="1">
                <a:solidFill>
                  <a:srgbClr val="FFFFFF"/>
                </a:solidFill>
                <a:latin typeface="Calibri"/>
                <a:ea typeface="Calibri"/>
                <a:cs typeface="Calibri"/>
              </a:rPr>
              <a:t>Method-4</a:t>
            </a:r>
            <a:endParaRPr lang="en-US"/>
          </a:p>
        </p:txBody>
      </p:sp>
      <p:sp>
        <p:nvSpPr>
          <p:cNvPr id="4" name="Text 2">
            <a:extLst>
              <a:ext uri="{FF2B5EF4-FFF2-40B4-BE49-F238E27FC236}">
                <a16:creationId xmlns:a16="http://schemas.microsoft.com/office/drawing/2014/main" id="{054FCB58-4EF6-71C8-10DA-36C1F6D403C0}"/>
              </a:ext>
            </a:extLst>
          </p:cNvPr>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a:ea typeface="Calibri"/>
                <a:cs typeface="Calibri"/>
              </a:rPr>
              <a:t>8</a:t>
            </a:r>
            <a:endParaRPr lang="en-US" sz="900"/>
          </a:p>
        </p:txBody>
      </p:sp>
      <p:pic>
        <p:nvPicPr>
          <p:cNvPr id="7" name="Picture 6" descr="A diagram of a fire">
            <a:extLst>
              <a:ext uri="{FF2B5EF4-FFF2-40B4-BE49-F238E27FC236}">
                <a16:creationId xmlns:a16="http://schemas.microsoft.com/office/drawing/2014/main" id="{D0E6ACAB-BEE1-7BAD-515E-22659B51C84E}"/>
              </a:ext>
            </a:extLst>
          </p:cNvPr>
          <p:cNvPicPr>
            <a:picLocks noChangeAspect="1"/>
          </p:cNvPicPr>
          <p:nvPr/>
        </p:nvPicPr>
        <p:blipFill>
          <a:blip r:embed="rId3"/>
          <a:stretch>
            <a:fillRect/>
          </a:stretch>
        </p:blipFill>
        <p:spPr>
          <a:xfrm>
            <a:off x="1871128" y="1196434"/>
            <a:ext cx="5402155" cy="3428918"/>
          </a:xfrm>
          <a:prstGeom prst="rect">
            <a:avLst/>
          </a:prstGeom>
        </p:spPr>
      </p:pic>
    </p:spTree>
    <p:extLst>
      <p:ext uri="{BB962C8B-B14F-4D97-AF65-F5344CB8AC3E}">
        <p14:creationId xmlns:p14="http://schemas.microsoft.com/office/powerpoint/2010/main" val="1847689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A153FF9-FB43-4780-B064-CA00951B1AF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923FDE-A4D5-081C-1E95-B40F17E900A8}"/>
              </a:ext>
            </a:extLst>
          </p:cNvPr>
          <p:cNvSpPr/>
          <p:nvPr/>
        </p:nvSpPr>
        <p:spPr>
          <a:xfrm>
            <a:off x="0" y="0"/>
            <a:ext cx="9144000" cy="749808"/>
          </a:xfrm>
          <a:prstGeom prst="rect">
            <a:avLst/>
          </a:prstGeom>
          <a:solidFill>
            <a:srgbClr val="111111"/>
          </a:solidFill>
          <a:ln w="12700">
            <a:solidFill>
              <a:srgbClr val="111111"/>
            </a:solidFill>
            <a:prstDash val="solid"/>
          </a:ln>
        </p:spPr>
      </p:sp>
      <p:sp>
        <p:nvSpPr>
          <p:cNvPr id="3" name="Text 1">
            <a:extLst>
              <a:ext uri="{FF2B5EF4-FFF2-40B4-BE49-F238E27FC236}">
                <a16:creationId xmlns:a16="http://schemas.microsoft.com/office/drawing/2014/main" id="{FD047502-DF66-1ED6-C4F8-28378BA5E5E1}"/>
              </a:ext>
            </a:extLst>
          </p:cNvPr>
          <p:cNvSpPr/>
          <p:nvPr/>
        </p:nvSpPr>
        <p:spPr>
          <a:xfrm>
            <a:off x="320040" y="0"/>
            <a:ext cx="8686800" cy="749808"/>
          </a:xfrm>
          <a:prstGeom prst="rect">
            <a:avLst/>
          </a:prstGeom>
          <a:noFill/>
          <a:ln/>
        </p:spPr>
        <p:txBody>
          <a:bodyPr wrap="square" lIns="0" tIns="0" rIns="0" bIns="0" rtlCol="0" anchor="ctr"/>
          <a:lstStyle/>
          <a:p>
            <a:r>
              <a:rPr lang="en-US" sz="2200" b="1">
                <a:solidFill>
                  <a:srgbClr val="FFFFFF"/>
                </a:solidFill>
                <a:ea typeface="Calibri"/>
                <a:cs typeface="Calibri"/>
              </a:rPr>
              <a:t>Training Data </a:t>
            </a:r>
            <a:r>
              <a:rPr lang="en-US" sz="2200">
                <a:solidFill>
                  <a:srgbClr val="FFFFFF"/>
                </a:solidFill>
                <a:ea typeface="+mn-lt"/>
                <a:cs typeface="+mn-lt"/>
              </a:rPr>
              <a:t>Methodology: Self-Supervised Pipeline</a:t>
            </a:r>
            <a:endParaRPr lang="en-US" sz="2200" b="1">
              <a:solidFill>
                <a:srgbClr val="FFFFFF"/>
              </a:solidFill>
              <a:ea typeface="Calibri"/>
              <a:cs typeface="Calibri"/>
            </a:endParaRPr>
          </a:p>
        </p:txBody>
      </p:sp>
      <p:sp>
        <p:nvSpPr>
          <p:cNvPr id="4" name="Text 2">
            <a:extLst>
              <a:ext uri="{FF2B5EF4-FFF2-40B4-BE49-F238E27FC236}">
                <a16:creationId xmlns:a16="http://schemas.microsoft.com/office/drawing/2014/main" id="{43DF5A14-385C-9053-1244-E454D4CA9B62}"/>
              </a:ext>
            </a:extLst>
          </p:cNvPr>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ea typeface="Calibri"/>
                <a:cs typeface="Calibri"/>
              </a:rPr>
              <a:t>9</a:t>
            </a:r>
          </a:p>
        </p:txBody>
      </p:sp>
      <p:pic>
        <p:nvPicPr>
          <p:cNvPr id="5" name="Picture 4" descr="A diagram of entity extraction&#10;&#10;AI-generated content may be incorrect.">
            <a:extLst>
              <a:ext uri="{FF2B5EF4-FFF2-40B4-BE49-F238E27FC236}">
                <a16:creationId xmlns:a16="http://schemas.microsoft.com/office/drawing/2014/main" id="{80D8B045-5106-A8D6-F4BA-F367AFBDB0C4}"/>
              </a:ext>
            </a:extLst>
          </p:cNvPr>
          <p:cNvPicPr>
            <a:picLocks noChangeAspect="1"/>
          </p:cNvPicPr>
          <p:nvPr/>
        </p:nvPicPr>
        <p:blipFill>
          <a:blip r:embed="rId3"/>
          <a:stretch>
            <a:fillRect/>
          </a:stretch>
        </p:blipFill>
        <p:spPr>
          <a:xfrm>
            <a:off x="642938" y="1191226"/>
            <a:ext cx="7858125" cy="2001216"/>
          </a:xfrm>
          <a:prstGeom prst="rect">
            <a:avLst/>
          </a:prstGeom>
        </p:spPr>
      </p:pic>
      <p:sp>
        <p:nvSpPr>
          <p:cNvPr id="7" name="TextBox 6">
            <a:extLst>
              <a:ext uri="{FF2B5EF4-FFF2-40B4-BE49-F238E27FC236}">
                <a16:creationId xmlns:a16="http://schemas.microsoft.com/office/drawing/2014/main" id="{6B5869D3-7DF8-6836-B103-4E6B3D7BE387}"/>
              </a:ext>
            </a:extLst>
          </p:cNvPr>
          <p:cNvSpPr txBox="1"/>
          <p:nvPr/>
        </p:nvSpPr>
        <p:spPr>
          <a:xfrm>
            <a:off x="224777" y="3206555"/>
            <a:ext cx="8668511" cy="13356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50000"/>
              </a:lnSpc>
              <a:buFont typeface="Calibri"/>
              <a:buChar char="-"/>
            </a:pPr>
            <a:r>
              <a:rPr lang="en-US" sz="1100" b="1">
                <a:ea typeface="+mn-lt"/>
                <a:cs typeface="+mn-lt"/>
              </a:rPr>
              <a:t>Framework:</a:t>
            </a:r>
            <a:r>
              <a:rPr lang="en-US" sz="1100">
                <a:ea typeface="+mn-lt"/>
                <a:cs typeface="+mn-lt"/>
              </a:rPr>
              <a:t> Adapted from the MIND architecture</a:t>
            </a:r>
          </a:p>
          <a:p>
            <a:pPr marL="171450" indent="-171450">
              <a:lnSpc>
                <a:spcPct val="150000"/>
              </a:lnSpc>
              <a:buFont typeface="Calibri"/>
              <a:buChar char="-"/>
            </a:pPr>
            <a:r>
              <a:rPr lang="en-US" sz="1100" b="1">
                <a:ea typeface="+mn-lt"/>
                <a:cs typeface="+mn-lt"/>
              </a:rPr>
              <a:t>Dynamic Generation:</a:t>
            </a:r>
            <a:r>
              <a:rPr lang="en-US" sz="1100">
                <a:ea typeface="+mn-lt"/>
                <a:cs typeface="+mn-lt"/>
              </a:rPr>
              <a:t> Creates model-dependent training data on the fly</a:t>
            </a:r>
          </a:p>
          <a:p>
            <a:pPr marL="171450" indent="-171450">
              <a:lnSpc>
                <a:spcPct val="150000"/>
              </a:lnSpc>
              <a:buFont typeface="Calibri"/>
              <a:buChar char="-"/>
            </a:pPr>
            <a:r>
              <a:rPr lang="en-US" sz="1100" b="1">
                <a:ea typeface="+mn-lt"/>
                <a:cs typeface="+mn-lt"/>
              </a:rPr>
              <a:t>Pipeline Components:</a:t>
            </a:r>
          </a:p>
          <a:p>
            <a:pPr marL="628650" lvl="1" indent="-171450">
              <a:lnSpc>
                <a:spcPct val="150000"/>
              </a:lnSpc>
              <a:buFont typeface="Courier New"/>
              <a:buChar char="o"/>
            </a:pPr>
            <a:r>
              <a:rPr lang="en-US" sz="1100">
                <a:ea typeface="+mn-lt"/>
                <a:cs typeface="+mn-lt"/>
              </a:rPr>
              <a:t>Extraction: Powered by </a:t>
            </a:r>
            <a:r>
              <a:rPr lang="en-US" sz="1100" err="1">
                <a:ea typeface="+mn-lt"/>
                <a:cs typeface="+mn-lt"/>
              </a:rPr>
              <a:t>spaCy</a:t>
            </a:r>
            <a:r>
              <a:rPr lang="en-US" sz="1100">
                <a:ea typeface="+mn-lt"/>
                <a:cs typeface="+mn-lt"/>
              </a:rPr>
              <a:t> for robust entity recognition</a:t>
            </a:r>
          </a:p>
          <a:p>
            <a:pPr marL="628650" lvl="1" indent="-171450">
              <a:lnSpc>
                <a:spcPct val="150000"/>
              </a:lnSpc>
              <a:buFont typeface="Courier New"/>
              <a:buChar char="o"/>
            </a:pPr>
            <a:r>
              <a:rPr lang="en-US" sz="1100">
                <a:ea typeface="+mn-lt"/>
                <a:cs typeface="+mn-lt"/>
              </a:rPr>
              <a:t>Validation: Match-checker verifies generated entities against Ground Truth (GT)</a:t>
            </a:r>
            <a:endParaRPr lang="en-US" sz="1100">
              <a:ea typeface="Calibri" panose="020F0502020204030204"/>
              <a:cs typeface="Calibri" panose="020F0502020204030204"/>
            </a:endParaRPr>
          </a:p>
        </p:txBody>
      </p:sp>
      <p:pic>
        <p:nvPicPr>
          <p:cNvPr id="9" name="Picture 8">
            <a:extLst>
              <a:ext uri="{FF2B5EF4-FFF2-40B4-BE49-F238E27FC236}">
                <a16:creationId xmlns:a16="http://schemas.microsoft.com/office/drawing/2014/main" id="{31932EA7-8A46-10C2-E292-96A113158251}"/>
              </a:ext>
            </a:extLst>
          </p:cNvPr>
          <p:cNvPicPr>
            <a:picLocks noChangeAspect="1"/>
          </p:cNvPicPr>
          <p:nvPr/>
        </p:nvPicPr>
        <p:blipFill>
          <a:blip r:embed="rId4"/>
          <a:stretch>
            <a:fillRect/>
          </a:stretch>
        </p:blipFill>
        <p:spPr>
          <a:xfrm>
            <a:off x="5738984" y="3365305"/>
            <a:ext cx="2989197" cy="1488934"/>
          </a:xfrm>
          <a:prstGeom prst="rect">
            <a:avLst/>
          </a:prstGeom>
        </p:spPr>
      </p:pic>
    </p:spTree>
    <p:extLst>
      <p:ext uri="{BB962C8B-B14F-4D97-AF65-F5344CB8AC3E}">
        <p14:creationId xmlns:p14="http://schemas.microsoft.com/office/powerpoint/2010/main" val="1307640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7CE4FE1-D94D-C28E-E1E3-F0CED3F6A9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2E3F94-7802-9CDE-7A96-CBD8A6DA8041}"/>
              </a:ext>
            </a:extLst>
          </p:cNvPr>
          <p:cNvSpPr/>
          <p:nvPr/>
        </p:nvSpPr>
        <p:spPr>
          <a:xfrm>
            <a:off x="0" y="0"/>
            <a:ext cx="9144000" cy="749808"/>
          </a:xfrm>
          <a:prstGeom prst="rect">
            <a:avLst/>
          </a:prstGeom>
          <a:solidFill>
            <a:srgbClr val="111111"/>
          </a:solidFill>
          <a:ln w="12700">
            <a:solidFill>
              <a:srgbClr val="111111"/>
            </a:solidFill>
            <a:prstDash val="solid"/>
          </a:ln>
        </p:spPr>
      </p:sp>
      <p:sp>
        <p:nvSpPr>
          <p:cNvPr id="3" name="Text 1">
            <a:extLst>
              <a:ext uri="{FF2B5EF4-FFF2-40B4-BE49-F238E27FC236}">
                <a16:creationId xmlns:a16="http://schemas.microsoft.com/office/drawing/2014/main" id="{A3604107-6272-B254-F2D9-2179ABBDE7EC}"/>
              </a:ext>
            </a:extLst>
          </p:cNvPr>
          <p:cNvSpPr/>
          <p:nvPr/>
        </p:nvSpPr>
        <p:spPr>
          <a:xfrm>
            <a:off x="320040" y="0"/>
            <a:ext cx="8686800" cy="749808"/>
          </a:xfrm>
          <a:prstGeom prst="rect">
            <a:avLst/>
          </a:prstGeom>
          <a:noFill/>
          <a:ln/>
        </p:spPr>
        <p:txBody>
          <a:bodyPr wrap="square" lIns="0" tIns="0" rIns="0" bIns="0" rtlCol="0" anchor="ctr"/>
          <a:lstStyle/>
          <a:p>
            <a:r>
              <a:rPr lang="en-US" sz="2200">
                <a:solidFill>
                  <a:srgbClr val="FFFFFF"/>
                </a:solidFill>
                <a:ea typeface="+mn-lt"/>
                <a:cs typeface="+mn-lt"/>
              </a:rPr>
              <a:t>HELM Benchmark Generation</a:t>
            </a:r>
            <a:endParaRPr lang="en-US">
              <a:ea typeface="+mn-lt"/>
              <a:cs typeface="+mn-lt"/>
            </a:endParaRPr>
          </a:p>
        </p:txBody>
      </p:sp>
      <p:sp>
        <p:nvSpPr>
          <p:cNvPr id="4" name="Text 2">
            <a:extLst>
              <a:ext uri="{FF2B5EF4-FFF2-40B4-BE49-F238E27FC236}">
                <a16:creationId xmlns:a16="http://schemas.microsoft.com/office/drawing/2014/main" id="{57E267E6-7EA4-2A33-4974-D86B8BCA3B0D}"/>
              </a:ext>
            </a:extLst>
          </p:cNvPr>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a:ea typeface="Calibri"/>
                <a:cs typeface="Calibri"/>
              </a:rPr>
              <a:t>10</a:t>
            </a:r>
            <a:endParaRPr lang="en-US" sz="900"/>
          </a:p>
        </p:txBody>
      </p:sp>
      <p:pic>
        <p:nvPicPr>
          <p:cNvPr id="6" name="Picture 5" descr="A diagram of a diagram&#10;&#10;AI-generated content may be incorrect.">
            <a:extLst>
              <a:ext uri="{FF2B5EF4-FFF2-40B4-BE49-F238E27FC236}">
                <a16:creationId xmlns:a16="http://schemas.microsoft.com/office/drawing/2014/main" id="{24FFEBF5-DF77-EAA4-E681-0A65A96B250C}"/>
              </a:ext>
            </a:extLst>
          </p:cNvPr>
          <p:cNvPicPr>
            <a:picLocks noChangeAspect="1"/>
          </p:cNvPicPr>
          <p:nvPr/>
        </p:nvPicPr>
        <p:blipFill>
          <a:blip r:embed="rId3"/>
          <a:stretch>
            <a:fillRect/>
          </a:stretch>
        </p:blipFill>
        <p:spPr>
          <a:xfrm>
            <a:off x="402648" y="1041158"/>
            <a:ext cx="8207338" cy="2145077"/>
          </a:xfrm>
          <a:prstGeom prst="rect">
            <a:avLst/>
          </a:prstGeom>
        </p:spPr>
      </p:pic>
      <p:sp>
        <p:nvSpPr>
          <p:cNvPr id="7" name="TextBox 6">
            <a:extLst>
              <a:ext uri="{FF2B5EF4-FFF2-40B4-BE49-F238E27FC236}">
                <a16:creationId xmlns:a16="http://schemas.microsoft.com/office/drawing/2014/main" id="{333C6223-2C80-1C76-36DC-DDE54D6C8E3B}"/>
              </a:ext>
            </a:extLst>
          </p:cNvPr>
          <p:cNvSpPr txBox="1"/>
          <p:nvPr/>
        </p:nvSpPr>
        <p:spPr>
          <a:xfrm>
            <a:off x="224777" y="3195078"/>
            <a:ext cx="8676339" cy="15896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50000"/>
              </a:lnSpc>
              <a:buFont typeface="Calibri"/>
              <a:buChar char="-"/>
            </a:pPr>
            <a:r>
              <a:rPr lang="en-US" sz="1100" b="1">
                <a:ea typeface="+mn-lt"/>
                <a:cs typeface="+mn-lt"/>
              </a:rPr>
              <a:t>Input Source:</a:t>
            </a:r>
            <a:r>
              <a:rPr lang="en-US" sz="1100">
                <a:ea typeface="+mn-lt"/>
                <a:cs typeface="+mn-lt"/>
              </a:rPr>
              <a:t> Uses Wikipedia Content (</a:t>
            </a:r>
            <a:r>
              <a:rPr lang="en-US" sz="1100">
                <a:ea typeface="+mn-lt"/>
                <a:cs typeface="+mn-lt"/>
                <a:hlinkClick r:id="rId4"/>
              </a:rPr>
              <a:t>WikiText-103</a:t>
            </a:r>
            <a:r>
              <a:rPr lang="en-US" sz="1100">
                <a:ea typeface="+mn-lt"/>
                <a:cs typeface="+mn-lt"/>
              </a:rPr>
              <a:t>) to establish baseline context</a:t>
            </a:r>
          </a:p>
          <a:p>
            <a:pPr marL="171450" indent="-171450">
              <a:lnSpc>
                <a:spcPct val="150000"/>
              </a:lnSpc>
              <a:buFont typeface="Calibri"/>
              <a:buChar char="-"/>
            </a:pPr>
            <a:r>
              <a:rPr lang="en-US" sz="1100" b="1">
                <a:ea typeface="+mn-lt"/>
                <a:cs typeface="+mn-lt"/>
              </a:rPr>
              <a:t>Candidate Generation:</a:t>
            </a:r>
            <a:r>
              <a:rPr lang="en-US" sz="1100">
                <a:ea typeface="+mn-lt"/>
                <a:cs typeface="+mn-lt"/>
              </a:rPr>
              <a:t> The target LLM continues generation while extracting contextualized embeddings</a:t>
            </a:r>
          </a:p>
          <a:p>
            <a:pPr marL="171450" indent="-171450">
              <a:lnSpc>
                <a:spcPct val="150000"/>
              </a:lnSpc>
              <a:buFont typeface="Calibri"/>
              <a:buChar char="-"/>
            </a:pPr>
            <a:r>
              <a:rPr lang="en-US" sz="1100" b="1">
                <a:ea typeface="+mn-lt"/>
                <a:cs typeface="+mn-lt"/>
              </a:rPr>
              <a:t>Evaluation:</a:t>
            </a:r>
            <a:r>
              <a:rPr lang="en-US" sz="1100">
                <a:ea typeface="+mn-lt"/>
                <a:cs typeface="+mn-lt"/>
              </a:rPr>
              <a:t> Employs GPT-4.1-mini under an LLM-as-judge paradigm</a:t>
            </a:r>
          </a:p>
          <a:p>
            <a:pPr marL="171450" indent="-171450">
              <a:lnSpc>
                <a:spcPct val="150000"/>
              </a:lnSpc>
              <a:buFont typeface="Calibri"/>
              <a:buChar char="-"/>
            </a:pPr>
            <a:r>
              <a:rPr lang="en-US" sz="1100" b="1">
                <a:ea typeface="+mn-lt"/>
                <a:cs typeface="+mn-lt"/>
              </a:rPr>
              <a:t>Sample Classification:</a:t>
            </a:r>
            <a:r>
              <a:rPr lang="en-US" sz="1100">
                <a:ea typeface="+mn-lt"/>
                <a:cs typeface="+mn-lt"/>
              </a:rPr>
              <a:t> </a:t>
            </a:r>
          </a:p>
          <a:p>
            <a:pPr marL="628650" lvl="1" indent="-171450">
              <a:lnSpc>
                <a:spcPct val="150000"/>
              </a:lnSpc>
              <a:buFont typeface="Courier New"/>
              <a:buChar char="o"/>
            </a:pPr>
            <a:r>
              <a:rPr lang="en-US" sz="1100">
                <a:ea typeface="+mn-lt"/>
                <a:cs typeface="+mn-lt"/>
              </a:rPr>
              <a:t>Match: Categorized as a Non-Hallucinated Sample</a:t>
            </a:r>
          </a:p>
          <a:p>
            <a:pPr marL="628650" lvl="1" indent="-171450">
              <a:lnSpc>
                <a:spcPct val="150000"/>
              </a:lnSpc>
              <a:buFont typeface="Courier New"/>
              <a:buChar char="o"/>
            </a:pPr>
            <a:r>
              <a:rPr lang="en-US" sz="1100">
                <a:ea typeface="+mn-lt"/>
                <a:cs typeface="+mn-lt"/>
              </a:rPr>
              <a:t>No Match: Categorized as a Hallucinated Sample</a:t>
            </a:r>
            <a:endParaRPr lang="en-US" sz="1100">
              <a:ea typeface="Calibri" panose="020F0502020204030204"/>
              <a:cs typeface="Calibri" panose="020F0502020204030204"/>
            </a:endParaRPr>
          </a:p>
        </p:txBody>
      </p:sp>
    </p:spTree>
    <p:extLst>
      <p:ext uri="{BB962C8B-B14F-4D97-AF65-F5344CB8AC3E}">
        <p14:creationId xmlns:p14="http://schemas.microsoft.com/office/powerpoint/2010/main" val="378360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092533A-B61C-8A44-3355-502DB4FF521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41CB7A-E0B0-CC99-312E-3BD01E6E723F}"/>
              </a:ext>
            </a:extLst>
          </p:cNvPr>
          <p:cNvSpPr/>
          <p:nvPr/>
        </p:nvSpPr>
        <p:spPr>
          <a:xfrm>
            <a:off x="0" y="0"/>
            <a:ext cx="9144000" cy="749808"/>
          </a:xfrm>
          <a:prstGeom prst="rect">
            <a:avLst/>
          </a:prstGeom>
          <a:solidFill>
            <a:srgbClr val="111111"/>
          </a:solidFill>
          <a:ln w="12700">
            <a:solidFill>
              <a:srgbClr val="111111"/>
            </a:solidFill>
            <a:prstDash val="solid"/>
          </a:ln>
        </p:spPr>
      </p:sp>
      <p:sp>
        <p:nvSpPr>
          <p:cNvPr id="3" name="Text 1">
            <a:extLst>
              <a:ext uri="{FF2B5EF4-FFF2-40B4-BE49-F238E27FC236}">
                <a16:creationId xmlns:a16="http://schemas.microsoft.com/office/drawing/2014/main" id="{D5B05142-9C60-0C6F-BCCF-87F8BE495F04}"/>
              </a:ext>
            </a:extLst>
          </p:cNvPr>
          <p:cNvSpPr/>
          <p:nvPr/>
        </p:nvSpPr>
        <p:spPr>
          <a:xfrm>
            <a:off x="320040" y="0"/>
            <a:ext cx="8686800" cy="749808"/>
          </a:xfrm>
          <a:prstGeom prst="rect">
            <a:avLst/>
          </a:prstGeom>
          <a:noFill/>
          <a:ln/>
        </p:spPr>
        <p:txBody>
          <a:bodyPr wrap="square" lIns="0" tIns="0" rIns="0" bIns="0" rtlCol="0" anchor="ctr"/>
          <a:lstStyle/>
          <a:p>
            <a:r>
              <a:rPr lang="en-US" sz="2200">
                <a:solidFill>
                  <a:srgbClr val="FFFFFF"/>
                </a:solidFill>
                <a:ea typeface="+mn-lt"/>
                <a:cs typeface="+mn-lt"/>
              </a:rPr>
              <a:t>Results &amp; Findings: Model-Dependent Performance</a:t>
            </a:r>
            <a:endParaRPr lang="en-US"/>
          </a:p>
        </p:txBody>
      </p:sp>
      <p:sp>
        <p:nvSpPr>
          <p:cNvPr id="4" name="Text 2">
            <a:extLst>
              <a:ext uri="{FF2B5EF4-FFF2-40B4-BE49-F238E27FC236}">
                <a16:creationId xmlns:a16="http://schemas.microsoft.com/office/drawing/2014/main" id="{5C4F8077-7BA7-731F-3A25-433D4D697C8A}"/>
              </a:ext>
            </a:extLst>
          </p:cNvPr>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ea typeface="Calibri"/>
                <a:cs typeface="Calibri"/>
              </a:rPr>
              <a:t>11</a:t>
            </a:r>
          </a:p>
        </p:txBody>
      </p:sp>
      <p:sp>
        <p:nvSpPr>
          <p:cNvPr id="7" name="TextBox 6">
            <a:extLst>
              <a:ext uri="{FF2B5EF4-FFF2-40B4-BE49-F238E27FC236}">
                <a16:creationId xmlns:a16="http://schemas.microsoft.com/office/drawing/2014/main" id="{98A9C7D5-94F9-0E0E-933B-6D74BFEAF542}"/>
              </a:ext>
            </a:extLst>
          </p:cNvPr>
          <p:cNvSpPr txBox="1"/>
          <p:nvPr/>
        </p:nvSpPr>
        <p:spPr>
          <a:xfrm>
            <a:off x="452956" y="3391994"/>
            <a:ext cx="8691996" cy="18620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000" b="1">
                <a:ea typeface="+mn-lt"/>
                <a:cs typeface="+mn-lt"/>
              </a:rPr>
              <a:t>Evaluation Metrics</a:t>
            </a:r>
            <a:endParaRPr lang="en-US" sz="1000" b="1">
              <a:ea typeface="Calibri" panose="020F0502020204030204"/>
              <a:cs typeface="Calibri" panose="020F0502020204030204"/>
            </a:endParaRPr>
          </a:p>
          <a:p>
            <a:pPr marL="171450" indent="-171450">
              <a:lnSpc>
                <a:spcPct val="150000"/>
              </a:lnSpc>
              <a:buFont typeface="Calibri"/>
              <a:buChar char="-"/>
            </a:pPr>
            <a:r>
              <a:rPr lang="en-US" sz="1000">
                <a:ea typeface="+mn-lt"/>
                <a:cs typeface="+mn-lt"/>
              </a:rPr>
              <a:t>AUC (Area Under Curve) - Threshold-independent measure of classification performance</a:t>
            </a:r>
          </a:p>
          <a:p>
            <a:pPr marL="171450" indent="-171450">
              <a:lnSpc>
                <a:spcPct val="150000"/>
              </a:lnSpc>
              <a:buFont typeface="Calibri"/>
              <a:buChar char="-"/>
            </a:pPr>
            <a:r>
              <a:rPr lang="en-US" sz="1000">
                <a:ea typeface="+mn-lt"/>
                <a:cs typeface="+mn-lt"/>
              </a:rPr>
              <a:t>Correlation - Measures alignment between classifier confidence and ground truth</a:t>
            </a:r>
          </a:p>
          <a:p>
            <a:pPr>
              <a:lnSpc>
                <a:spcPct val="150000"/>
              </a:lnSpc>
            </a:pPr>
            <a:r>
              <a:rPr lang="en-US" sz="1000" b="1">
                <a:ea typeface="+mn-lt"/>
                <a:cs typeface="+mn-lt"/>
              </a:rPr>
              <a:t>Key Findings</a:t>
            </a:r>
            <a:endParaRPr lang="en-US" sz="1000" b="1">
              <a:ea typeface="Calibri" panose="020F0502020204030204"/>
              <a:cs typeface="Calibri" panose="020F0502020204030204"/>
            </a:endParaRPr>
          </a:p>
          <a:p>
            <a:pPr marL="171450" indent="-171450">
              <a:lnSpc>
                <a:spcPct val="150000"/>
              </a:lnSpc>
              <a:buFont typeface="Calibri"/>
              <a:buChar char="-"/>
            </a:pPr>
            <a:r>
              <a:rPr lang="en-US" sz="1000" b="1">
                <a:ea typeface="+mn-lt"/>
                <a:cs typeface="+mn-lt"/>
              </a:rPr>
              <a:t>Model-dependent behavior is dominant:</a:t>
            </a:r>
            <a:r>
              <a:rPr lang="en-US" sz="1000">
                <a:ea typeface="+mn-lt"/>
                <a:cs typeface="+mn-lt"/>
              </a:rPr>
              <a:t> No single strategy wins across the board</a:t>
            </a:r>
            <a:endParaRPr lang="en-US" sz="1000" b="1">
              <a:ea typeface="Calibri" panose="020F0502020204030204"/>
              <a:cs typeface="Calibri" panose="020F0502020204030204"/>
            </a:endParaRPr>
          </a:p>
          <a:p>
            <a:pPr marL="171450" indent="-171450">
              <a:lnSpc>
                <a:spcPct val="150000"/>
              </a:lnSpc>
              <a:buFont typeface="Calibri"/>
              <a:buChar char="-"/>
            </a:pPr>
            <a:r>
              <a:rPr lang="en-US" sz="1000" b="1">
                <a:ea typeface="+mn-lt"/>
                <a:cs typeface="+mn-lt"/>
              </a:rPr>
              <a:t>MIND is strong but fragile:</a:t>
            </a:r>
            <a:r>
              <a:rPr lang="en-US" sz="1000">
                <a:ea typeface="+mn-lt"/>
                <a:cs typeface="+mn-lt"/>
              </a:rPr>
              <a:t> Dominates on GPT-J but fails to generalize to Llama-3</a:t>
            </a:r>
            <a:endParaRPr lang="en-US" sz="1000">
              <a:ea typeface="Calibri" panose="020F0502020204030204"/>
              <a:cs typeface="Calibri" panose="020F0502020204030204"/>
            </a:endParaRPr>
          </a:p>
          <a:p>
            <a:pPr marL="171450" indent="-171450">
              <a:lnSpc>
                <a:spcPct val="150000"/>
              </a:lnSpc>
              <a:buFont typeface="Calibri"/>
              <a:buChar char="-"/>
            </a:pPr>
            <a:r>
              <a:rPr lang="en-US" sz="1000" b="1" err="1">
                <a:ea typeface="+mn-lt"/>
                <a:cs typeface="+mn-lt"/>
              </a:rPr>
              <a:t>multi_layer_mean</a:t>
            </a:r>
            <a:r>
              <a:rPr lang="en-US" sz="1000" b="1">
                <a:ea typeface="+mn-lt"/>
                <a:cs typeface="+mn-lt"/>
              </a:rPr>
              <a:t> is the most robust:</a:t>
            </a:r>
            <a:r>
              <a:rPr lang="en-US" sz="1000">
                <a:ea typeface="+mn-lt"/>
                <a:cs typeface="+mn-lt"/>
              </a:rPr>
              <a:t> The only method that consistently performs best on Llama-3 across all metrics</a:t>
            </a:r>
            <a:endParaRPr lang="en-US" sz="1000">
              <a:ea typeface="Calibri" panose="020F0502020204030204"/>
              <a:cs typeface="Calibri" panose="020F0502020204030204"/>
            </a:endParaRPr>
          </a:p>
          <a:p>
            <a:pPr marL="171450" indent="-171450">
              <a:buFont typeface="Calibri"/>
              <a:buChar char="-"/>
            </a:pPr>
            <a:endParaRPr lang="en-US" sz="1000">
              <a:ea typeface="Calibri" panose="020F0502020204030204"/>
              <a:cs typeface="Calibri" panose="020F0502020204030204"/>
            </a:endParaRPr>
          </a:p>
        </p:txBody>
      </p:sp>
      <p:pic>
        <p:nvPicPr>
          <p:cNvPr id="5" name="Picture 4" descr="A table with text and numbers&#10;&#10;AI-generated content may be incorrect.">
            <a:extLst>
              <a:ext uri="{FF2B5EF4-FFF2-40B4-BE49-F238E27FC236}">
                <a16:creationId xmlns:a16="http://schemas.microsoft.com/office/drawing/2014/main" id="{53A49118-2737-181C-0EB9-63E4F23E608B}"/>
              </a:ext>
            </a:extLst>
          </p:cNvPr>
          <p:cNvPicPr>
            <a:picLocks noChangeAspect="1"/>
          </p:cNvPicPr>
          <p:nvPr/>
        </p:nvPicPr>
        <p:blipFill>
          <a:blip r:embed="rId3"/>
          <a:stretch>
            <a:fillRect/>
          </a:stretch>
        </p:blipFill>
        <p:spPr>
          <a:xfrm>
            <a:off x="1915991" y="839541"/>
            <a:ext cx="5313012" cy="2655601"/>
          </a:xfrm>
          <a:prstGeom prst="rect">
            <a:avLst/>
          </a:prstGeom>
        </p:spPr>
      </p:pic>
    </p:spTree>
    <p:extLst>
      <p:ext uri="{BB962C8B-B14F-4D97-AF65-F5344CB8AC3E}">
        <p14:creationId xmlns:p14="http://schemas.microsoft.com/office/powerpoint/2010/main" val="1783039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2F2E8DA-6959-0771-D0C4-28DC055F4E0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6F9472-D710-044E-8B48-C7DCE0DD56E0}"/>
              </a:ext>
            </a:extLst>
          </p:cNvPr>
          <p:cNvSpPr/>
          <p:nvPr/>
        </p:nvSpPr>
        <p:spPr>
          <a:xfrm>
            <a:off x="0" y="0"/>
            <a:ext cx="9144000" cy="749808"/>
          </a:xfrm>
          <a:prstGeom prst="rect">
            <a:avLst/>
          </a:prstGeom>
          <a:solidFill>
            <a:srgbClr val="111111"/>
          </a:solidFill>
          <a:ln w="12700">
            <a:solidFill>
              <a:srgbClr val="111111"/>
            </a:solidFill>
            <a:prstDash val="solid"/>
          </a:ln>
        </p:spPr>
      </p:sp>
      <p:sp>
        <p:nvSpPr>
          <p:cNvPr id="3" name="Text 1">
            <a:extLst>
              <a:ext uri="{FF2B5EF4-FFF2-40B4-BE49-F238E27FC236}">
                <a16:creationId xmlns:a16="http://schemas.microsoft.com/office/drawing/2014/main" id="{0A57308B-184F-1E29-4DDA-025D254998E2}"/>
              </a:ext>
            </a:extLst>
          </p:cNvPr>
          <p:cNvSpPr/>
          <p:nvPr/>
        </p:nvSpPr>
        <p:spPr>
          <a:xfrm>
            <a:off x="320040" y="0"/>
            <a:ext cx="8686800" cy="749808"/>
          </a:xfrm>
          <a:prstGeom prst="rect">
            <a:avLst/>
          </a:prstGeom>
          <a:noFill/>
          <a:ln/>
        </p:spPr>
        <p:txBody>
          <a:bodyPr wrap="square" lIns="0" tIns="0" rIns="0" bIns="0" rtlCol="0" anchor="ctr"/>
          <a:lstStyle/>
          <a:p>
            <a:r>
              <a:rPr lang="en-US" sz="2200">
                <a:solidFill>
                  <a:srgbClr val="FFFFFF"/>
                </a:solidFill>
                <a:ea typeface="+mn-lt"/>
                <a:cs typeface="+mn-lt"/>
              </a:rPr>
              <a:t>Results &amp; Findings: Analyzing Feature Strategies</a:t>
            </a:r>
            <a:endParaRPr lang="en-US"/>
          </a:p>
        </p:txBody>
      </p:sp>
      <p:sp>
        <p:nvSpPr>
          <p:cNvPr id="4" name="Text 2">
            <a:extLst>
              <a:ext uri="{FF2B5EF4-FFF2-40B4-BE49-F238E27FC236}">
                <a16:creationId xmlns:a16="http://schemas.microsoft.com/office/drawing/2014/main" id="{2C823213-3962-2765-0DB6-F5DA1599911E}"/>
              </a:ext>
            </a:extLst>
          </p:cNvPr>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a:ea typeface="Calibri"/>
                <a:cs typeface="Calibri"/>
              </a:rPr>
              <a:t>12</a:t>
            </a:r>
            <a:endParaRPr lang="en-US" sz="900"/>
          </a:p>
        </p:txBody>
      </p:sp>
      <p:sp>
        <p:nvSpPr>
          <p:cNvPr id="7" name="TextBox 6">
            <a:extLst>
              <a:ext uri="{FF2B5EF4-FFF2-40B4-BE49-F238E27FC236}">
                <a16:creationId xmlns:a16="http://schemas.microsoft.com/office/drawing/2014/main" id="{A5016C28-0AD3-208B-9FCF-2B9A00533E95}"/>
              </a:ext>
            </a:extLst>
          </p:cNvPr>
          <p:cNvSpPr txBox="1"/>
          <p:nvPr/>
        </p:nvSpPr>
        <p:spPr>
          <a:xfrm>
            <a:off x="406618" y="3492393"/>
            <a:ext cx="8691996" cy="14534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50000"/>
              </a:lnSpc>
              <a:buFont typeface="Calibri"/>
              <a:buChar char="-"/>
            </a:pPr>
            <a:r>
              <a:rPr lang="en-US" sz="1000" b="1">
                <a:ea typeface="+mn-lt"/>
                <a:cs typeface="+mn-lt"/>
              </a:rPr>
              <a:t>Aggregation function is critical</a:t>
            </a:r>
            <a:endParaRPr lang="en-US" b="1">
              <a:ea typeface="+mn-lt"/>
              <a:cs typeface="+mn-lt"/>
            </a:endParaRPr>
          </a:p>
          <a:p>
            <a:pPr marL="628650" lvl="1" indent="-171450">
              <a:lnSpc>
                <a:spcPct val="150000"/>
              </a:lnSpc>
              <a:buFont typeface="Courier New"/>
              <a:buChar char="o"/>
            </a:pPr>
            <a:r>
              <a:rPr lang="en-US" sz="1000">
                <a:ea typeface="+mn-lt"/>
                <a:cs typeface="+mn-lt"/>
              </a:rPr>
              <a:t>Mean pooling (</a:t>
            </a:r>
            <a:r>
              <a:rPr lang="en-US" sz="1000" err="1">
                <a:ea typeface="+mn-lt"/>
                <a:cs typeface="+mn-lt"/>
              </a:rPr>
              <a:t>multi_layer_mean</a:t>
            </a:r>
            <a:r>
              <a:rPr lang="en-US" sz="1000">
                <a:ea typeface="+mn-lt"/>
                <a:cs typeface="+mn-lt"/>
              </a:rPr>
              <a:t>) significantly outperforms naive concatenation (</a:t>
            </a:r>
            <a:r>
              <a:rPr lang="en-US" sz="1000" err="1">
                <a:ea typeface="+mn-lt"/>
                <a:cs typeface="+mn-lt"/>
              </a:rPr>
              <a:t>multi_layer</a:t>
            </a:r>
            <a:r>
              <a:rPr lang="en-US" sz="1000">
                <a:ea typeface="+mn-lt"/>
                <a:cs typeface="+mn-lt"/>
              </a:rPr>
              <a:t>)</a:t>
            </a:r>
            <a:endParaRPr lang="en-US">
              <a:ea typeface="+mn-lt"/>
              <a:cs typeface="+mn-lt"/>
            </a:endParaRPr>
          </a:p>
          <a:p>
            <a:pPr marL="628650" lvl="1" indent="-171450">
              <a:lnSpc>
                <a:spcPct val="150000"/>
              </a:lnSpc>
              <a:buFont typeface="Courier New"/>
              <a:buChar char="o"/>
            </a:pPr>
            <a:r>
              <a:rPr lang="en-US" sz="1000">
                <a:ea typeface="+mn-lt"/>
                <a:cs typeface="+mn-lt"/>
              </a:rPr>
              <a:t>Takeaway: How representations are combined matters much more than simply increasing the number of representations used</a:t>
            </a:r>
          </a:p>
          <a:p>
            <a:pPr marL="171450" indent="-171450">
              <a:lnSpc>
                <a:spcPct val="150000"/>
              </a:lnSpc>
              <a:buFont typeface="Calibri"/>
              <a:buChar char="-"/>
            </a:pPr>
            <a:r>
              <a:rPr lang="en-US" sz="1000" b="1">
                <a:ea typeface="+mn-lt"/>
                <a:cs typeface="+mn-lt"/>
              </a:rPr>
              <a:t>Consistently weak strategies</a:t>
            </a:r>
            <a:endParaRPr lang="en-US" b="1">
              <a:ea typeface="+mn-lt"/>
              <a:cs typeface="+mn-lt"/>
            </a:endParaRPr>
          </a:p>
          <a:p>
            <a:pPr marL="628650" lvl="1" indent="-171450">
              <a:lnSpc>
                <a:spcPct val="150000"/>
              </a:lnSpc>
              <a:buFont typeface="Courier New"/>
              <a:buChar char="o"/>
            </a:pPr>
            <a:r>
              <a:rPr lang="en-US" sz="1000">
                <a:ea typeface="+mn-lt"/>
                <a:cs typeface="+mn-lt"/>
              </a:rPr>
              <a:t>Delta-based features (</a:t>
            </a:r>
            <a:r>
              <a:rPr lang="en-US" sz="1000" err="1">
                <a:ea typeface="+mn-lt"/>
                <a:cs typeface="+mn-lt"/>
              </a:rPr>
              <a:t>multi_layer_deltas</a:t>
            </a:r>
            <a:r>
              <a:rPr lang="en-US" sz="1000">
                <a:ea typeface="+mn-lt"/>
                <a:cs typeface="+mn-lt"/>
              </a:rPr>
              <a:t>)</a:t>
            </a:r>
            <a:endParaRPr lang="en-US">
              <a:ea typeface="Calibri" panose="020F0502020204030204"/>
              <a:cs typeface="Calibri" panose="020F0502020204030204"/>
            </a:endParaRPr>
          </a:p>
          <a:p>
            <a:pPr marL="628650" lvl="1" indent="-171450">
              <a:lnSpc>
                <a:spcPct val="150000"/>
              </a:lnSpc>
              <a:buFont typeface="Courier New"/>
              <a:buChar char="o"/>
            </a:pPr>
            <a:r>
              <a:rPr lang="en-US" sz="1000">
                <a:ea typeface="+mn-lt"/>
                <a:cs typeface="+mn-lt"/>
              </a:rPr>
              <a:t>Last-token representations (</a:t>
            </a:r>
            <a:r>
              <a:rPr lang="en-US" sz="1000" err="1">
                <a:ea typeface="+mn-lt"/>
                <a:cs typeface="+mn-lt"/>
              </a:rPr>
              <a:t>multi_layer_last_token</a:t>
            </a:r>
            <a:r>
              <a:rPr lang="en-US" sz="1000">
                <a:ea typeface="+mn-lt"/>
                <a:cs typeface="+mn-lt"/>
              </a:rPr>
              <a:t>)</a:t>
            </a:r>
            <a:endParaRPr lang="en-US">
              <a:ea typeface="Calibri" panose="020F0502020204030204"/>
              <a:cs typeface="Calibri" panose="020F0502020204030204"/>
            </a:endParaRPr>
          </a:p>
        </p:txBody>
      </p:sp>
      <p:pic>
        <p:nvPicPr>
          <p:cNvPr id="6" name="Picture 5" descr="A table with text and numbers&#10;&#10;AI-generated content may be incorrect.">
            <a:extLst>
              <a:ext uri="{FF2B5EF4-FFF2-40B4-BE49-F238E27FC236}">
                <a16:creationId xmlns:a16="http://schemas.microsoft.com/office/drawing/2014/main" id="{63BDE024-603D-B129-0AC4-126113FEB189}"/>
              </a:ext>
            </a:extLst>
          </p:cNvPr>
          <p:cNvPicPr>
            <a:picLocks noChangeAspect="1"/>
          </p:cNvPicPr>
          <p:nvPr/>
        </p:nvPicPr>
        <p:blipFill>
          <a:blip r:embed="rId3"/>
          <a:stretch>
            <a:fillRect/>
          </a:stretch>
        </p:blipFill>
        <p:spPr>
          <a:xfrm>
            <a:off x="1792874" y="811880"/>
            <a:ext cx="5362127" cy="2683587"/>
          </a:xfrm>
          <a:prstGeom prst="rect">
            <a:avLst/>
          </a:prstGeom>
        </p:spPr>
      </p:pic>
    </p:spTree>
    <p:extLst>
      <p:ext uri="{BB962C8B-B14F-4D97-AF65-F5344CB8AC3E}">
        <p14:creationId xmlns:p14="http://schemas.microsoft.com/office/powerpoint/2010/main" val="2713006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1111"/>
          </a:solidFill>
          <a:ln w="12700">
            <a:solidFill>
              <a:srgbClr val="111111"/>
            </a:solidFill>
            <a:prstDash val="solid"/>
          </a:ln>
        </p:spPr>
      </p:sp>
      <p:sp>
        <p:nvSpPr>
          <p:cNvPr id="3" name="Text 1"/>
          <p:cNvSpPr/>
          <p:nvPr/>
        </p:nvSpPr>
        <p:spPr>
          <a:xfrm>
            <a:off x="320040" y="0"/>
            <a:ext cx="8686800" cy="749808"/>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Discussion: Challenges Faced</a:t>
            </a:r>
            <a:endParaRPr lang="en-US" sz="2200"/>
          </a:p>
        </p:txBody>
      </p:sp>
      <p:sp>
        <p:nvSpPr>
          <p:cNvPr id="4" name="Text 2"/>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a:ea typeface="Calibri"/>
                <a:cs typeface="Calibri"/>
              </a:rPr>
              <a:t>13</a:t>
            </a:r>
            <a:endParaRPr lang="en-US" sz="900"/>
          </a:p>
        </p:txBody>
      </p:sp>
      <p:sp>
        <p:nvSpPr>
          <p:cNvPr id="5" name="Text 3"/>
          <p:cNvSpPr/>
          <p:nvPr/>
        </p:nvSpPr>
        <p:spPr>
          <a:xfrm>
            <a:off x="196381" y="1040508"/>
            <a:ext cx="8260491" cy="3251715"/>
          </a:xfrm>
          <a:prstGeom prst="rect">
            <a:avLst/>
          </a:prstGeom>
          <a:noFill/>
          <a:ln/>
        </p:spPr>
        <p:txBody>
          <a:bodyPr wrap="square" lIns="91440" tIns="45720" rIns="91440" bIns="45720" rtlCol="0" anchor="t"/>
          <a:lstStyle/>
          <a:p>
            <a:pPr marL="285750" indent="-285750">
              <a:lnSpc>
                <a:spcPct val="150000"/>
              </a:lnSpc>
              <a:buFont typeface="Calibri"/>
              <a:buChar char="-"/>
            </a:pPr>
            <a:r>
              <a:rPr lang="en-US" sz="1400" b="1">
                <a:ea typeface="+mn-lt"/>
                <a:cs typeface="+mn-lt"/>
              </a:rPr>
              <a:t>Primary Challenges</a:t>
            </a:r>
          </a:p>
          <a:p>
            <a:pPr marL="742950" lvl="1" indent="-285750">
              <a:lnSpc>
                <a:spcPct val="150000"/>
              </a:lnSpc>
              <a:buFont typeface="Courier New"/>
              <a:buChar char="o"/>
            </a:pPr>
            <a:r>
              <a:rPr lang="en-US" sz="1400" b="1">
                <a:ea typeface="+mn-lt"/>
                <a:cs typeface="+mn-lt"/>
              </a:rPr>
              <a:t>Data Scarcity:</a:t>
            </a:r>
            <a:r>
              <a:rPr lang="en-US" sz="1400">
                <a:ea typeface="+mn-lt"/>
                <a:cs typeface="+mn-lt"/>
              </a:rPr>
              <a:t> Lack of existing HELM benchmark data for our target models</a:t>
            </a:r>
          </a:p>
          <a:p>
            <a:pPr marL="742950" lvl="1" indent="-285750">
              <a:lnSpc>
                <a:spcPct val="150000"/>
              </a:lnSpc>
              <a:buFont typeface="Courier New"/>
              <a:buChar char="o"/>
            </a:pPr>
            <a:r>
              <a:rPr lang="en-US" sz="1400" b="1">
                <a:ea typeface="+mn-lt"/>
                <a:cs typeface="+mn-lt"/>
              </a:rPr>
              <a:t>Resource Constraints:</a:t>
            </a:r>
            <a:r>
              <a:rPr lang="en-US" sz="1400">
                <a:ea typeface="+mn-lt"/>
                <a:cs typeface="+mn-lt"/>
              </a:rPr>
              <a:t> Compute bottlenecks when running large-scale models, coupled with budget limitations for OpenAI API annotations</a:t>
            </a:r>
          </a:p>
          <a:p>
            <a:pPr marL="742950" lvl="1" indent="-285750">
              <a:lnSpc>
                <a:spcPct val="150000"/>
              </a:lnSpc>
              <a:buFont typeface="Courier New"/>
              <a:buChar char="o"/>
            </a:pPr>
            <a:r>
              <a:rPr lang="en-US" sz="1400" b="1">
                <a:ea typeface="+mn-lt"/>
                <a:cs typeface="+mn-lt"/>
              </a:rPr>
              <a:t>Engineering Overhead:</a:t>
            </a:r>
            <a:r>
              <a:rPr lang="en-US" sz="1400">
                <a:ea typeface="+mn-lt"/>
                <a:cs typeface="+mn-lt"/>
              </a:rPr>
              <a:t> Extensive codebase refactoring required to integrate custom pipeline implementations</a:t>
            </a:r>
          </a:p>
          <a:p>
            <a:pPr lvl="1">
              <a:lnSpc>
                <a:spcPct val="150000"/>
              </a:lnSpc>
            </a:pPr>
            <a:endParaRPr lang="en-US" sz="1400">
              <a:ea typeface="+mn-lt"/>
              <a:cs typeface="+mn-lt"/>
            </a:endParaRPr>
          </a:p>
          <a:p>
            <a:pPr marL="285750" indent="-285750">
              <a:lnSpc>
                <a:spcPct val="150000"/>
              </a:lnSpc>
              <a:buFont typeface="Calibri"/>
              <a:buChar char="-"/>
            </a:pPr>
            <a:r>
              <a:rPr lang="en-US" sz="1400" b="1">
                <a:ea typeface="+mn-lt"/>
                <a:cs typeface="+mn-lt"/>
              </a:rPr>
              <a:t>Future Scope</a:t>
            </a:r>
          </a:p>
          <a:p>
            <a:pPr marL="742950" lvl="1" indent="-285750">
              <a:lnSpc>
                <a:spcPct val="150000"/>
              </a:lnSpc>
              <a:buFont typeface="Courier New"/>
              <a:buChar char="o"/>
            </a:pPr>
            <a:r>
              <a:rPr lang="en-US" sz="1400" b="1">
                <a:ea typeface="+mn-lt"/>
                <a:cs typeface="+mn-lt"/>
              </a:rPr>
              <a:t>Architectural Expansion:</a:t>
            </a:r>
            <a:r>
              <a:rPr lang="en-US" sz="1400">
                <a:ea typeface="+mn-lt"/>
                <a:cs typeface="+mn-lt"/>
              </a:rPr>
              <a:t> Experiment with more complex classifier designs</a:t>
            </a:r>
          </a:p>
          <a:p>
            <a:pPr marL="742950" lvl="1" indent="-285750">
              <a:lnSpc>
                <a:spcPct val="150000"/>
              </a:lnSpc>
              <a:buFont typeface="Courier New"/>
              <a:buChar char="o"/>
            </a:pPr>
            <a:r>
              <a:rPr lang="en-US" sz="1400" b="1">
                <a:ea typeface="+mn-lt"/>
                <a:cs typeface="+mn-lt"/>
              </a:rPr>
              <a:t>Model Diversity:</a:t>
            </a:r>
            <a:r>
              <a:rPr lang="en-US" sz="1400">
                <a:ea typeface="+mn-lt"/>
                <a:cs typeface="+mn-lt"/>
              </a:rPr>
              <a:t> Broaden evaluation across a wider range of foundation models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1111"/>
          </a:solidFill>
          <a:ln w="12700">
            <a:solidFill>
              <a:srgbClr val="111111"/>
            </a:solidFill>
            <a:prstDash val="solid"/>
          </a:ln>
        </p:spPr>
      </p:sp>
      <p:sp>
        <p:nvSpPr>
          <p:cNvPr id="3" name="Text 1"/>
          <p:cNvSpPr/>
          <p:nvPr/>
        </p:nvSpPr>
        <p:spPr>
          <a:xfrm>
            <a:off x="320040" y="0"/>
            <a:ext cx="8686800" cy="749808"/>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Individual Contributions</a:t>
            </a:r>
            <a:endParaRPr lang="en-US" sz="2200"/>
          </a:p>
        </p:txBody>
      </p:sp>
      <p:sp>
        <p:nvSpPr>
          <p:cNvPr id="4" name="Text 2"/>
          <p:cNvSpPr/>
          <p:nvPr/>
        </p:nvSpPr>
        <p:spPr>
          <a:xfrm>
            <a:off x="8732520" y="4850892"/>
            <a:ext cx="320040" cy="228600"/>
          </a:xfrm>
          <a:prstGeom prst="rect">
            <a:avLst/>
          </a:prstGeom>
          <a:noFill/>
          <a:ln/>
        </p:spPr>
        <p:txBody>
          <a:bodyPr wrap="square" lIns="0" tIns="0" rIns="0" bIns="0" rtlCol="0" anchor="ctr"/>
          <a:lstStyle/>
          <a:p>
            <a:pPr marL="0" indent="0" algn="r">
              <a:buNone/>
            </a:pPr>
            <a:r>
              <a:rPr lang="en-US" sz="900">
                <a:solidFill>
                  <a:srgbClr val="000000"/>
                </a:solidFill>
                <a:latin typeface="Calibri"/>
                <a:ea typeface="Calibri"/>
                <a:cs typeface="Calibri"/>
              </a:rPr>
              <a:t>14</a:t>
            </a:r>
            <a:endParaRPr lang="en-US" sz="900"/>
          </a:p>
        </p:txBody>
      </p:sp>
      <p:sp>
        <p:nvSpPr>
          <p:cNvPr id="5" name="Shape 3"/>
          <p:cNvSpPr/>
          <p:nvPr/>
        </p:nvSpPr>
        <p:spPr>
          <a:xfrm>
            <a:off x="254660" y="1024128"/>
            <a:ext cx="2718512" cy="1553319"/>
          </a:xfrm>
          <a:prstGeom prst="rect">
            <a:avLst/>
          </a:prstGeom>
          <a:solidFill>
            <a:srgbClr val="F0F0F0"/>
          </a:solidFill>
          <a:ln w="12700">
            <a:solidFill>
              <a:srgbClr val="CCCCCC"/>
            </a:solidFill>
            <a:prstDash val="solid"/>
          </a:ln>
        </p:spPr>
      </p:sp>
      <p:sp>
        <p:nvSpPr>
          <p:cNvPr id="6" name="Text 4"/>
          <p:cNvSpPr/>
          <p:nvPr/>
        </p:nvSpPr>
        <p:spPr>
          <a:xfrm>
            <a:off x="256032" y="1133856"/>
            <a:ext cx="2715768" cy="365760"/>
          </a:xfrm>
          <a:prstGeom prst="rect">
            <a:avLst/>
          </a:prstGeom>
          <a:noFill/>
          <a:ln/>
        </p:spPr>
        <p:txBody>
          <a:bodyPr wrap="square" lIns="91440" tIns="45720" rIns="91440" bIns="45720" rtlCol="0" anchor="ctr"/>
          <a:lstStyle/>
          <a:p>
            <a:pPr algn="ctr"/>
            <a:r>
              <a:rPr lang="en-US" sz="1300" b="1">
                <a:solidFill>
                  <a:srgbClr val="000000"/>
                </a:solidFill>
                <a:latin typeface="Calibri"/>
                <a:ea typeface="Calibri"/>
                <a:cs typeface="Calibri"/>
              </a:rPr>
              <a:t>Ajay Rajendra Kumar</a:t>
            </a:r>
            <a:endParaRPr lang="en-US" sz="1300"/>
          </a:p>
        </p:txBody>
      </p:sp>
      <p:sp>
        <p:nvSpPr>
          <p:cNvPr id="7" name="Shape 5"/>
          <p:cNvSpPr/>
          <p:nvPr/>
        </p:nvSpPr>
        <p:spPr>
          <a:xfrm>
            <a:off x="320040" y="1554480"/>
            <a:ext cx="2587752" cy="0"/>
          </a:xfrm>
          <a:prstGeom prst="line">
            <a:avLst/>
          </a:prstGeom>
          <a:noFill/>
          <a:ln w="10160">
            <a:solidFill>
              <a:schemeClr val="tx1"/>
            </a:solidFill>
            <a:prstDash val="solid"/>
          </a:ln>
        </p:spPr>
      </p:sp>
      <p:sp>
        <p:nvSpPr>
          <p:cNvPr id="8" name="Text 6"/>
          <p:cNvSpPr/>
          <p:nvPr/>
        </p:nvSpPr>
        <p:spPr>
          <a:xfrm>
            <a:off x="320040" y="1645920"/>
            <a:ext cx="2583917" cy="1116090"/>
          </a:xfrm>
          <a:prstGeom prst="rect">
            <a:avLst/>
          </a:prstGeom>
          <a:noFill/>
          <a:ln/>
        </p:spPr>
        <p:txBody>
          <a:bodyPr wrap="square" lIns="91440" tIns="45720" rIns="91440" bIns="45720" rtlCol="0" anchor="t"/>
          <a:lstStyle/>
          <a:p>
            <a:pPr marL="171450" indent="-171450">
              <a:spcAft>
                <a:spcPts val="800"/>
              </a:spcAft>
              <a:buFont typeface="Arial"/>
              <a:buChar char="•"/>
            </a:pPr>
            <a:r>
              <a:rPr lang="en-US" sz="1400">
                <a:ea typeface="Calibri"/>
                <a:cs typeface="Calibri"/>
              </a:rPr>
              <a:t>Method 1</a:t>
            </a:r>
          </a:p>
          <a:p>
            <a:pPr marL="171450" indent="-171450">
              <a:spcAft>
                <a:spcPts val="800"/>
              </a:spcAft>
              <a:buFont typeface="Arial"/>
              <a:buChar char="•"/>
            </a:pPr>
            <a:r>
              <a:rPr lang="en-US" sz="1400">
                <a:ea typeface="Calibri"/>
                <a:cs typeface="Calibri"/>
              </a:rPr>
              <a:t>Method 4</a:t>
            </a:r>
          </a:p>
        </p:txBody>
      </p:sp>
      <p:sp>
        <p:nvSpPr>
          <p:cNvPr id="9" name="Shape 7"/>
          <p:cNvSpPr/>
          <p:nvPr/>
        </p:nvSpPr>
        <p:spPr>
          <a:xfrm>
            <a:off x="3204916" y="1024128"/>
            <a:ext cx="2718510" cy="1561148"/>
          </a:xfrm>
          <a:prstGeom prst="rect">
            <a:avLst/>
          </a:prstGeom>
          <a:solidFill>
            <a:srgbClr val="F0F0F0"/>
          </a:solidFill>
          <a:ln w="12700">
            <a:solidFill>
              <a:srgbClr val="CCCCCC"/>
            </a:solidFill>
            <a:prstDash val="solid"/>
          </a:ln>
        </p:spPr>
      </p:sp>
      <p:sp>
        <p:nvSpPr>
          <p:cNvPr id="10" name="Text 8"/>
          <p:cNvSpPr/>
          <p:nvPr/>
        </p:nvSpPr>
        <p:spPr>
          <a:xfrm>
            <a:off x="3214116" y="1133856"/>
            <a:ext cx="2715768" cy="365760"/>
          </a:xfrm>
          <a:prstGeom prst="rect">
            <a:avLst/>
          </a:prstGeom>
          <a:noFill/>
          <a:ln/>
        </p:spPr>
        <p:txBody>
          <a:bodyPr wrap="square" rtlCol="0" anchor="ctr"/>
          <a:lstStyle/>
          <a:p>
            <a:pPr marL="0" indent="0" algn="ctr">
              <a:buNone/>
            </a:pPr>
            <a:r>
              <a:rPr lang="en-US" sz="1300" b="1">
                <a:solidFill>
                  <a:srgbClr val="000000"/>
                </a:solidFill>
                <a:latin typeface="Calibri" pitchFamily="34" charset="0"/>
                <a:ea typeface="Calibri" pitchFamily="34" charset="-122"/>
                <a:cs typeface="Calibri" pitchFamily="34" charset="-120"/>
              </a:rPr>
              <a:t>Vicky Daniel</a:t>
            </a:r>
            <a:endParaRPr lang="en-US" sz="1300"/>
          </a:p>
        </p:txBody>
      </p:sp>
      <p:sp>
        <p:nvSpPr>
          <p:cNvPr id="11" name="Shape 9"/>
          <p:cNvSpPr/>
          <p:nvPr/>
        </p:nvSpPr>
        <p:spPr>
          <a:xfrm>
            <a:off x="3278124" y="1554480"/>
            <a:ext cx="2587752" cy="0"/>
          </a:xfrm>
          <a:prstGeom prst="line">
            <a:avLst/>
          </a:prstGeom>
          <a:noFill/>
          <a:ln w="10160">
            <a:solidFill>
              <a:schemeClr val="tx1"/>
            </a:solidFill>
            <a:prstDash val="solid"/>
          </a:ln>
        </p:spPr>
      </p:sp>
      <p:sp>
        <p:nvSpPr>
          <p:cNvPr id="12" name="Text 10"/>
          <p:cNvSpPr/>
          <p:nvPr/>
        </p:nvSpPr>
        <p:spPr>
          <a:xfrm>
            <a:off x="3278124" y="1645920"/>
            <a:ext cx="2587752" cy="3095244"/>
          </a:xfrm>
          <a:prstGeom prst="rect">
            <a:avLst/>
          </a:prstGeom>
          <a:noFill/>
          <a:ln/>
        </p:spPr>
        <p:txBody>
          <a:bodyPr wrap="square" lIns="91440" tIns="45720" rIns="91440" bIns="45720" rtlCol="0" anchor="t"/>
          <a:lstStyle/>
          <a:p>
            <a:pPr marL="171450" indent="-171450">
              <a:spcAft>
                <a:spcPts val="800"/>
              </a:spcAft>
              <a:buFont typeface="Arial"/>
              <a:buChar char="•"/>
            </a:pPr>
            <a:r>
              <a:rPr lang="en-US" sz="1400">
                <a:ea typeface="Calibri"/>
                <a:cs typeface="Calibri"/>
              </a:rPr>
              <a:t>Method 2</a:t>
            </a:r>
          </a:p>
          <a:p>
            <a:pPr marL="171450" indent="-171450">
              <a:spcAft>
                <a:spcPts val="800"/>
              </a:spcAft>
              <a:buFont typeface="Arial"/>
              <a:buChar char="•"/>
            </a:pPr>
            <a:r>
              <a:rPr lang="en-US" sz="1400">
                <a:ea typeface="Calibri"/>
                <a:cs typeface="Calibri"/>
              </a:rPr>
              <a:t>Self-Supervised Data Generation Pipeline</a:t>
            </a:r>
          </a:p>
        </p:txBody>
      </p:sp>
      <p:sp>
        <p:nvSpPr>
          <p:cNvPr id="13" name="Shape 11"/>
          <p:cNvSpPr/>
          <p:nvPr/>
        </p:nvSpPr>
        <p:spPr>
          <a:xfrm>
            <a:off x="6163000" y="1024128"/>
            <a:ext cx="2830317" cy="1561148"/>
          </a:xfrm>
          <a:prstGeom prst="rect">
            <a:avLst/>
          </a:prstGeom>
          <a:solidFill>
            <a:srgbClr val="F0F0F0"/>
          </a:solidFill>
          <a:ln w="12700">
            <a:solidFill>
              <a:srgbClr val="CCCCCC"/>
            </a:solidFill>
            <a:prstDash val="solid"/>
          </a:ln>
        </p:spPr>
      </p:sp>
      <p:sp>
        <p:nvSpPr>
          <p:cNvPr id="14" name="Text 12"/>
          <p:cNvSpPr/>
          <p:nvPr/>
        </p:nvSpPr>
        <p:spPr>
          <a:xfrm>
            <a:off x="6172200" y="1133856"/>
            <a:ext cx="2715768" cy="365760"/>
          </a:xfrm>
          <a:prstGeom prst="rect">
            <a:avLst/>
          </a:prstGeom>
          <a:noFill/>
          <a:ln/>
        </p:spPr>
        <p:txBody>
          <a:bodyPr wrap="square" rtlCol="0" anchor="ctr"/>
          <a:lstStyle/>
          <a:p>
            <a:pPr marL="0" indent="0" algn="ctr">
              <a:buNone/>
            </a:pPr>
            <a:r>
              <a:rPr lang="en-US" sz="1300" b="1">
                <a:solidFill>
                  <a:srgbClr val="000000"/>
                </a:solidFill>
                <a:latin typeface="Calibri" pitchFamily="34" charset="0"/>
                <a:ea typeface="Calibri" pitchFamily="34" charset="-122"/>
                <a:cs typeface="Calibri" pitchFamily="34" charset="-120"/>
              </a:rPr>
              <a:t>Vaibhav Sankaran</a:t>
            </a:r>
            <a:endParaRPr lang="en-US" sz="1300"/>
          </a:p>
        </p:txBody>
      </p:sp>
      <p:sp>
        <p:nvSpPr>
          <p:cNvPr id="15" name="Shape 13"/>
          <p:cNvSpPr/>
          <p:nvPr/>
        </p:nvSpPr>
        <p:spPr>
          <a:xfrm>
            <a:off x="6236208" y="1554480"/>
            <a:ext cx="2587752" cy="0"/>
          </a:xfrm>
          <a:prstGeom prst="line">
            <a:avLst/>
          </a:prstGeom>
          <a:noFill/>
          <a:ln w="10160">
            <a:solidFill>
              <a:schemeClr val="tx1"/>
            </a:solidFill>
            <a:prstDash val="solid"/>
          </a:ln>
        </p:spPr>
      </p:sp>
      <p:sp>
        <p:nvSpPr>
          <p:cNvPr id="16" name="Text 14"/>
          <p:cNvSpPr/>
          <p:nvPr/>
        </p:nvSpPr>
        <p:spPr>
          <a:xfrm>
            <a:off x="6236208" y="1645920"/>
            <a:ext cx="2587752" cy="3095244"/>
          </a:xfrm>
          <a:prstGeom prst="rect">
            <a:avLst/>
          </a:prstGeom>
          <a:noFill/>
          <a:ln/>
        </p:spPr>
        <p:txBody>
          <a:bodyPr wrap="square" lIns="91440" tIns="45720" rIns="91440" bIns="45720" rtlCol="0" anchor="t"/>
          <a:lstStyle/>
          <a:p>
            <a:pPr marL="171450" indent="-171450">
              <a:spcAft>
                <a:spcPts val="800"/>
              </a:spcAft>
              <a:buFont typeface="Arial"/>
              <a:buChar char="•"/>
            </a:pPr>
            <a:r>
              <a:rPr lang="en-US" sz="1400">
                <a:ea typeface="Calibri"/>
                <a:cs typeface="Calibri"/>
              </a:rPr>
              <a:t>Method 3</a:t>
            </a:r>
          </a:p>
          <a:p>
            <a:pPr marL="171450" indent="-171450">
              <a:spcAft>
                <a:spcPts val="800"/>
              </a:spcAft>
              <a:buFont typeface="Arial"/>
              <a:buChar char="•"/>
            </a:pPr>
            <a:r>
              <a:rPr lang="en-US" sz="1400">
                <a:ea typeface="Calibri"/>
                <a:cs typeface="Calibri"/>
              </a:rPr>
              <a:t>HELM Benchmark Generation</a:t>
            </a:r>
            <a:r>
              <a:rPr lang="en-US" sz="1200">
                <a:ea typeface="Calibri"/>
                <a:cs typeface="Calibri"/>
              </a:rPr>
              <a:t> </a:t>
            </a:r>
          </a:p>
        </p:txBody>
      </p:sp>
      <p:sp>
        <p:nvSpPr>
          <p:cNvPr id="17" name="Shape 3">
            <a:extLst>
              <a:ext uri="{FF2B5EF4-FFF2-40B4-BE49-F238E27FC236}">
                <a16:creationId xmlns:a16="http://schemas.microsoft.com/office/drawing/2014/main" id="{881E9E0A-723B-4729-5FE9-A157115F1656}"/>
              </a:ext>
            </a:extLst>
          </p:cNvPr>
          <p:cNvSpPr/>
          <p:nvPr/>
        </p:nvSpPr>
        <p:spPr>
          <a:xfrm>
            <a:off x="200080" y="2884287"/>
            <a:ext cx="8746108" cy="1760285"/>
          </a:xfrm>
          <a:prstGeom prst="rect">
            <a:avLst/>
          </a:prstGeom>
          <a:solidFill>
            <a:srgbClr val="F0F0F0"/>
          </a:solidFill>
          <a:ln w="12700">
            <a:solidFill>
              <a:srgbClr val="CCCCCC"/>
            </a:solidFill>
            <a:prstDash val="solid"/>
          </a:ln>
        </p:spPr>
      </p:sp>
      <p:sp>
        <p:nvSpPr>
          <p:cNvPr id="18" name="TextBox 17">
            <a:extLst>
              <a:ext uri="{FF2B5EF4-FFF2-40B4-BE49-F238E27FC236}">
                <a16:creationId xmlns:a16="http://schemas.microsoft.com/office/drawing/2014/main" id="{2D64BB7F-2E7E-AEE8-3E84-93FAE7D5171B}"/>
              </a:ext>
            </a:extLst>
          </p:cNvPr>
          <p:cNvSpPr txBox="1"/>
          <p:nvPr/>
        </p:nvSpPr>
        <p:spPr>
          <a:xfrm>
            <a:off x="761466" y="2882948"/>
            <a:ext cx="4724463" cy="19851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1400">
                <a:ea typeface="+mn-lt"/>
                <a:cs typeface="+mn-lt"/>
              </a:rPr>
              <a:t>Literature review and prior work analysis</a:t>
            </a:r>
            <a:endParaRPr lang="en-US" sz="1400">
              <a:ea typeface="Calibri"/>
              <a:cs typeface="Calibri"/>
            </a:endParaRPr>
          </a:p>
          <a:p>
            <a:pPr marL="285750" indent="-285750">
              <a:lnSpc>
                <a:spcPct val="150000"/>
              </a:lnSpc>
              <a:buFont typeface="Arial"/>
              <a:buChar char="•"/>
            </a:pPr>
            <a:r>
              <a:rPr lang="en-US" sz="1400">
                <a:ea typeface="+mn-lt"/>
                <a:cs typeface="+mn-lt"/>
              </a:rPr>
              <a:t>Experiment design and evaluation methodology</a:t>
            </a:r>
            <a:endParaRPr lang="en-US" sz="1400">
              <a:ea typeface="Calibri"/>
              <a:cs typeface="Calibri"/>
            </a:endParaRPr>
          </a:p>
          <a:p>
            <a:pPr marL="285750" indent="-285750">
              <a:lnSpc>
                <a:spcPct val="150000"/>
              </a:lnSpc>
              <a:buFont typeface="Arial"/>
              <a:buChar char="•"/>
            </a:pPr>
            <a:r>
              <a:rPr lang="en-US" sz="1400">
                <a:ea typeface="+mn-lt"/>
                <a:cs typeface="+mn-lt"/>
              </a:rPr>
              <a:t>Results analysis and interpretation</a:t>
            </a:r>
            <a:endParaRPr lang="en-US" sz="1400">
              <a:ea typeface="Calibri"/>
              <a:cs typeface="Calibri"/>
            </a:endParaRPr>
          </a:p>
          <a:p>
            <a:pPr marL="285750" indent="-285750">
              <a:lnSpc>
                <a:spcPct val="150000"/>
              </a:lnSpc>
              <a:buFont typeface="Arial"/>
              <a:buChar char="•"/>
            </a:pPr>
            <a:r>
              <a:rPr lang="en-US" sz="1400">
                <a:ea typeface="+mn-lt"/>
                <a:cs typeface="+mn-lt"/>
              </a:rPr>
              <a:t>Report and Presentation preparation</a:t>
            </a:r>
            <a:endParaRPr lang="en-US" sz="1400">
              <a:ea typeface="Calibri"/>
              <a:cs typeface="Calibri"/>
            </a:endParaRPr>
          </a:p>
          <a:p>
            <a:pPr marL="285750" indent="-285750">
              <a:lnSpc>
                <a:spcPct val="150000"/>
              </a:lnSpc>
              <a:buFont typeface="Arial"/>
              <a:buChar char="•"/>
            </a:pPr>
            <a:r>
              <a:rPr lang="en-US" sz="1400">
                <a:ea typeface="+mn-lt"/>
                <a:cs typeface="+mn-lt"/>
              </a:rPr>
              <a:t>Codebase development and </a:t>
            </a:r>
            <a:r>
              <a:rPr lang="en-US" sz="1400" err="1">
                <a:ea typeface="+mn-lt"/>
                <a:cs typeface="+mn-lt"/>
              </a:rPr>
              <a:t>debuggin</a:t>
            </a:r>
            <a:r>
              <a:rPr lang="en-US" sz="1400">
                <a:ea typeface="+mn-lt"/>
                <a:cs typeface="+mn-lt"/>
              </a:rPr>
              <a:t>g</a:t>
            </a:r>
            <a:endParaRPr lang="en-US" sz="1400">
              <a:ea typeface="Calibri"/>
              <a:cs typeface="Calibri"/>
            </a:endParaRPr>
          </a:p>
          <a:p>
            <a:endParaRPr lang="en-US">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F19F8F-5453-C55B-751E-C3FCECBB21A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5C7ED3-644C-B265-0F00-7A627649BE11}"/>
              </a:ext>
            </a:extLst>
          </p:cNvPr>
          <p:cNvSpPr/>
          <p:nvPr/>
        </p:nvSpPr>
        <p:spPr>
          <a:xfrm>
            <a:off x="0" y="0"/>
            <a:ext cx="9144000" cy="91440"/>
          </a:xfrm>
          <a:prstGeom prst="rect">
            <a:avLst/>
          </a:prstGeom>
          <a:solidFill>
            <a:srgbClr val="111111"/>
          </a:solidFill>
          <a:ln w="12700">
            <a:solidFill>
              <a:srgbClr val="111111"/>
            </a:solidFill>
            <a:prstDash val="solid"/>
          </a:ln>
        </p:spPr>
      </p:sp>
      <p:sp>
        <p:nvSpPr>
          <p:cNvPr id="3" name="Shape 1">
            <a:extLst>
              <a:ext uri="{FF2B5EF4-FFF2-40B4-BE49-F238E27FC236}">
                <a16:creationId xmlns:a16="http://schemas.microsoft.com/office/drawing/2014/main" id="{BFF773A6-3C68-12AE-0822-BA7EAEE34047}"/>
              </a:ext>
            </a:extLst>
          </p:cNvPr>
          <p:cNvSpPr/>
          <p:nvPr/>
        </p:nvSpPr>
        <p:spPr>
          <a:xfrm>
            <a:off x="0" y="5052060"/>
            <a:ext cx="9144000" cy="91440"/>
          </a:xfrm>
          <a:prstGeom prst="rect">
            <a:avLst/>
          </a:prstGeom>
          <a:solidFill>
            <a:srgbClr val="111111"/>
          </a:solidFill>
          <a:ln w="12700">
            <a:solidFill>
              <a:srgbClr val="111111"/>
            </a:solidFill>
            <a:prstDash val="solid"/>
          </a:ln>
        </p:spPr>
      </p:sp>
      <p:sp>
        <p:nvSpPr>
          <p:cNvPr id="4" name="Text 2">
            <a:extLst>
              <a:ext uri="{FF2B5EF4-FFF2-40B4-BE49-F238E27FC236}">
                <a16:creationId xmlns:a16="http://schemas.microsoft.com/office/drawing/2014/main" id="{7A98F808-7898-8B3C-3AD0-C0308C24EA49}"/>
              </a:ext>
            </a:extLst>
          </p:cNvPr>
          <p:cNvSpPr/>
          <p:nvPr/>
        </p:nvSpPr>
        <p:spPr>
          <a:xfrm>
            <a:off x="575137" y="1817630"/>
            <a:ext cx="7863840" cy="1645920"/>
          </a:xfrm>
          <a:prstGeom prst="rect">
            <a:avLst/>
          </a:prstGeom>
          <a:noFill/>
          <a:ln/>
        </p:spPr>
        <p:txBody>
          <a:bodyPr wrap="square" lIns="91440" tIns="45720" rIns="91440" bIns="45720" rtlCol="0" anchor="ctr"/>
          <a:lstStyle/>
          <a:p>
            <a:pPr algn="ctr"/>
            <a:r>
              <a:rPr lang="en-US" sz="3000" b="1">
                <a:solidFill>
                  <a:srgbClr val="000000"/>
                </a:solidFill>
                <a:latin typeface="Calibri"/>
                <a:ea typeface="Calibri"/>
                <a:cs typeface="Calibri"/>
              </a:rPr>
              <a:t>Thank You!</a:t>
            </a:r>
            <a:endParaRPr lang="en-US"/>
          </a:p>
        </p:txBody>
      </p:sp>
    </p:spTree>
    <p:extLst>
      <p:ext uri="{BB962C8B-B14F-4D97-AF65-F5344CB8AC3E}">
        <p14:creationId xmlns:p14="http://schemas.microsoft.com/office/powerpoint/2010/main" val="2180029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16</Slides>
  <Notes>16</Notes>
  <HiddenSlides>1</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and Mitigating Hallucinations in Open-Domain QA</dc:title>
  <dc:subject>PptxGenJS Presentation</dc:subject>
  <dc:creator>PptxGenJS</dc:creator>
  <cp:revision>2</cp:revision>
  <dcterms:created xsi:type="dcterms:W3CDTF">2026-04-20T19:55:06Z</dcterms:created>
  <dcterms:modified xsi:type="dcterms:W3CDTF">2026-04-25T00:28:01Z</dcterms:modified>
</cp:coreProperties>
</file>